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c6ac08cf56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c6ac08cf56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6ac08cf5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g3c6ac08cf56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c6ac08cf5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g3c6ac08cf56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c6ac08cf5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3c6ac08cf56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6ac08cf5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c6ac08cf56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6ac08cf56_2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3c6ac08cf56_2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6ac08cf56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c6ac08cf56_0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6ac08cf56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c6ac08cf56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6ac08cf5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3c6ac08cf56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c6ac08cf5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c6ac08cf56_0_1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c6ac08cf56_2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c6ac08cf56_2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6ac08cf5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c6ac08cf56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c6ac08cf5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c6ac08cf56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6ac08cf5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c6ac08cf5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25EC5"/>
            </a:gs>
            <a:gs pos="100000">
              <a:srgbClr val="000000"/>
            </a:gs>
          </a:gsLst>
          <a:lin ang="0" scaled="0"/>
        </a:gradFill>
      </p:bgPr>
    </p:bg>
    <p:spTree>
      <p:nvGrpSpPr>
        <p:cNvPr id="53" name="Shape 53"/>
        <p:cNvGrpSpPr/>
        <p:nvPr/>
      </p:nvGrpSpPr>
      <p:grpSpPr>
        <a:xfrm>
          <a:off x="0" y="0"/>
          <a:ext cx="0" cy="0"/>
          <a:chOff x="0" y="0"/>
          <a:chExt cx="0" cy="0"/>
        </a:xfrm>
      </p:grpSpPr>
      <p:sp>
        <p:nvSpPr>
          <p:cNvPr id="54" name="Google Shape;54;p13"/>
          <p:cNvSpPr/>
          <p:nvPr/>
        </p:nvSpPr>
        <p:spPr>
          <a:xfrm>
            <a:off x="2514600" y="514350"/>
            <a:ext cx="4114800" cy="4114800"/>
          </a:xfrm>
          <a:custGeom>
            <a:rect b="b" l="l" r="r" t="t"/>
            <a:pathLst>
              <a:path extrusionOk="0" h="8229600" w="8229600">
                <a:moveTo>
                  <a:pt x="0" y="0"/>
                </a:moveTo>
                <a:lnTo>
                  <a:pt x="8229600" y="0"/>
                </a:lnTo>
                <a:lnTo>
                  <a:pt x="8229600" y="8229600"/>
                </a:lnTo>
                <a:lnTo>
                  <a:pt x="0" y="8229600"/>
                </a:lnTo>
                <a:lnTo>
                  <a:pt x="0" y="0"/>
                </a:lnTo>
                <a:close/>
              </a:path>
            </a:pathLst>
          </a:custGeom>
          <a:blipFill rotWithShape="1">
            <a:blip r:embed="rId3">
              <a:alphaModFix amt="18000"/>
            </a:blip>
            <a:stretch>
              <a:fillRect b="0" l="0" r="0" t="0"/>
            </a:stretch>
          </a:blipFill>
          <a:ln>
            <a:noFill/>
          </a:ln>
        </p:spPr>
      </p:sp>
      <p:grpSp>
        <p:nvGrpSpPr>
          <p:cNvPr id="55" name="Google Shape;55;p13"/>
          <p:cNvGrpSpPr/>
          <p:nvPr/>
        </p:nvGrpSpPr>
        <p:grpSpPr>
          <a:xfrm>
            <a:off x="8748156" y="4657243"/>
            <a:ext cx="395845" cy="486257"/>
            <a:chOff x="0" y="-47625"/>
            <a:chExt cx="208511" cy="256136"/>
          </a:xfrm>
        </p:grpSpPr>
        <p:sp>
          <p:nvSpPr>
            <p:cNvPr id="56" name="Google Shape;56;p13"/>
            <p:cNvSpPr/>
            <p:nvPr/>
          </p:nvSpPr>
          <p:spPr>
            <a:xfrm>
              <a:off x="0" y="0"/>
              <a:ext cx="208511" cy="208511"/>
            </a:xfrm>
            <a:custGeom>
              <a:rect b="b" l="l" r="r" t="t"/>
              <a:pathLst>
                <a:path extrusionOk="0" h="208511" w="208511">
                  <a:moveTo>
                    <a:pt x="0" y="0"/>
                  </a:moveTo>
                  <a:lnTo>
                    <a:pt x="208511" y="0"/>
                  </a:lnTo>
                  <a:lnTo>
                    <a:pt x="208511" y="208511"/>
                  </a:lnTo>
                  <a:lnTo>
                    <a:pt x="0" y="208511"/>
                  </a:lnTo>
                  <a:close/>
                </a:path>
              </a:pathLst>
            </a:custGeom>
            <a:solidFill>
              <a:srgbClr val="2B52A5"/>
            </a:solidFill>
            <a:ln>
              <a:noFill/>
            </a:ln>
          </p:spPr>
        </p:sp>
        <p:sp>
          <p:nvSpPr>
            <p:cNvPr id="57" name="Google Shape;57;p13"/>
            <p:cNvSpPr txBox="1"/>
            <p:nvPr/>
          </p:nvSpPr>
          <p:spPr>
            <a:xfrm>
              <a:off x="0" y="-47625"/>
              <a:ext cx="208511" cy="256136"/>
            </a:xfrm>
            <a:prstGeom prst="rect">
              <a:avLst/>
            </a:prstGeom>
            <a:noFill/>
            <a:ln>
              <a:noFill/>
            </a:ln>
          </p:spPr>
          <p:txBody>
            <a:bodyPr anchorCtr="0" anchor="ctr" bIns="25400" lIns="25400" spcFirstLastPara="1" rIns="25400" wrap="square" tIns="25400">
              <a:noAutofit/>
            </a:bodyPr>
            <a:lstStyle/>
            <a:p>
              <a:pPr indent="0" lvl="0" marL="0" marR="0" rtl="0" algn="ctr">
                <a:lnSpc>
                  <a:spcPct val="123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8" name="Google Shape;58;p13"/>
          <p:cNvSpPr txBox="1"/>
          <p:nvPr/>
        </p:nvSpPr>
        <p:spPr>
          <a:xfrm>
            <a:off x="286075" y="249700"/>
            <a:ext cx="7311300" cy="12192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Font typeface="Arial"/>
              <a:buNone/>
            </a:pPr>
            <a:r>
              <a:rPr lang="fr" sz="3300">
                <a:solidFill>
                  <a:srgbClr val="FFFFFF"/>
                </a:solidFill>
              </a:rPr>
              <a:t>Python-Mysql : "Boutique-Pro &amp; Historique" - Groupe 2</a:t>
            </a:r>
            <a:endParaRPr sz="100"/>
          </a:p>
        </p:txBody>
      </p:sp>
      <p:sp>
        <p:nvSpPr>
          <p:cNvPr id="59" name="Google Shape;59;p13"/>
          <p:cNvSpPr txBox="1"/>
          <p:nvPr/>
        </p:nvSpPr>
        <p:spPr>
          <a:xfrm>
            <a:off x="8816921" y="4862802"/>
            <a:ext cx="258300" cy="18465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fr" sz="1200" u="none" cap="none" strike="noStrike">
                <a:solidFill>
                  <a:srgbClr val="FFFFFF"/>
                </a:solidFill>
                <a:latin typeface="Arial"/>
                <a:ea typeface="Arial"/>
                <a:cs typeface="Arial"/>
                <a:sym typeface="Arial"/>
              </a:rPr>
              <a:t>01</a:t>
            </a:r>
            <a:endParaRPr sz="1200"/>
          </a:p>
        </p:txBody>
      </p:sp>
      <p:sp>
        <p:nvSpPr>
          <p:cNvPr id="60" name="Google Shape;60;p13"/>
          <p:cNvSpPr txBox="1"/>
          <p:nvPr/>
        </p:nvSpPr>
        <p:spPr>
          <a:xfrm>
            <a:off x="3571808" y="2294551"/>
            <a:ext cx="2138100" cy="3231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fr" sz="2100">
                <a:solidFill>
                  <a:srgbClr val="FFFFFF"/>
                </a:solidFill>
              </a:rPr>
              <a:t>    BA Amadou</a:t>
            </a:r>
            <a:endParaRPr sz="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25EC5"/>
            </a:gs>
            <a:gs pos="100000">
              <a:srgbClr val="000000"/>
            </a:gs>
          </a:gsLst>
          <a:lin ang="0" scaled="0"/>
        </a:gradFill>
      </p:bgPr>
    </p:bg>
    <p:spTree>
      <p:nvGrpSpPr>
        <p:cNvPr id="64" name="Shape 64"/>
        <p:cNvGrpSpPr/>
        <p:nvPr/>
      </p:nvGrpSpPr>
      <p:grpSpPr>
        <a:xfrm>
          <a:off x="0" y="0"/>
          <a:ext cx="0" cy="0"/>
          <a:chOff x="0" y="0"/>
          <a:chExt cx="0" cy="0"/>
        </a:xfrm>
      </p:grpSpPr>
      <p:sp>
        <p:nvSpPr>
          <p:cNvPr id="65" name="Google Shape;65;p14"/>
          <p:cNvSpPr/>
          <p:nvPr/>
        </p:nvSpPr>
        <p:spPr>
          <a:xfrm>
            <a:off x="2514600" y="514350"/>
            <a:ext cx="4114800" cy="4114800"/>
          </a:xfrm>
          <a:custGeom>
            <a:rect b="b" l="l" r="r" t="t"/>
            <a:pathLst>
              <a:path extrusionOk="0" h="8229600" w="8229600">
                <a:moveTo>
                  <a:pt x="0" y="0"/>
                </a:moveTo>
                <a:lnTo>
                  <a:pt x="8229600" y="0"/>
                </a:lnTo>
                <a:lnTo>
                  <a:pt x="8229600" y="8229600"/>
                </a:lnTo>
                <a:lnTo>
                  <a:pt x="0" y="8229600"/>
                </a:lnTo>
                <a:lnTo>
                  <a:pt x="0" y="0"/>
                </a:lnTo>
                <a:close/>
              </a:path>
            </a:pathLst>
          </a:custGeom>
          <a:blipFill rotWithShape="1">
            <a:blip r:embed="rId3">
              <a:alphaModFix amt="18000"/>
            </a:blip>
            <a:stretch>
              <a:fillRect b="0" l="0" r="0" t="0"/>
            </a:stretch>
          </a:blipFill>
          <a:ln>
            <a:noFill/>
          </a:ln>
        </p:spPr>
      </p:sp>
      <p:grpSp>
        <p:nvGrpSpPr>
          <p:cNvPr id="66" name="Google Shape;66;p14"/>
          <p:cNvGrpSpPr/>
          <p:nvPr/>
        </p:nvGrpSpPr>
        <p:grpSpPr>
          <a:xfrm>
            <a:off x="8748156" y="4657244"/>
            <a:ext cx="395837" cy="486370"/>
            <a:chOff x="0" y="-47625"/>
            <a:chExt cx="208511" cy="256200"/>
          </a:xfrm>
        </p:grpSpPr>
        <p:sp>
          <p:nvSpPr>
            <p:cNvPr id="67" name="Google Shape;67;p14"/>
            <p:cNvSpPr/>
            <p:nvPr/>
          </p:nvSpPr>
          <p:spPr>
            <a:xfrm>
              <a:off x="0" y="0"/>
              <a:ext cx="208511" cy="208511"/>
            </a:xfrm>
            <a:custGeom>
              <a:rect b="b" l="l" r="r" t="t"/>
              <a:pathLst>
                <a:path extrusionOk="0" h="208511" w="208511">
                  <a:moveTo>
                    <a:pt x="0" y="0"/>
                  </a:moveTo>
                  <a:lnTo>
                    <a:pt x="208511" y="0"/>
                  </a:lnTo>
                  <a:lnTo>
                    <a:pt x="208511" y="208511"/>
                  </a:lnTo>
                  <a:lnTo>
                    <a:pt x="0" y="208511"/>
                  </a:lnTo>
                  <a:close/>
                </a:path>
              </a:pathLst>
            </a:custGeom>
            <a:solidFill>
              <a:srgbClr val="2B52A5"/>
            </a:solidFill>
            <a:ln>
              <a:noFill/>
            </a:ln>
          </p:spPr>
        </p:sp>
        <p:sp>
          <p:nvSpPr>
            <p:cNvPr id="68" name="Google Shape;68;p14"/>
            <p:cNvSpPr txBox="1"/>
            <p:nvPr/>
          </p:nvSpPr>
          <p:spPr>
            <a:xfrm>
              <a:off x="0" y="-47625"/>
              <a:ext cx="208500" cy="256200"/>
            </a:xfrm>
            <a:prstGeom prst="rect">
              <a:avLst/>
            </a:prstGeom>
            <a:noFill/>
            <a:ln>
              <a:noFill/>
            </a:ln>
          </p:spPr>
          <p:txBody>
            <a:bodyPr anchorCtr="0" anchor="ctr" bIns="25400" lIns="25400" spcFirstLastPara="1" rIns="25400" wrap="square" tIns="25400">
              <a:noAutofit/>
            </a:bodyPr>
            <a:lstStyle/>
            <a:p>
              <a:pPr indent="0" lvl="0" marL="0" marR="0" rtl="0" algn="ctr">
                <a:lnSpc>
                  <a:spcPct val="123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69" name="Google Shape;69;p14"/>
          <p:cNvSpPr txBox="1"/>
          <p:nvPr/>
        </p:nvSpPr>
        <p:spPr>
          <a:xfrm>
            <a:off x="286075" y="249700"/>
            <a:ext cx="7311300" cy="507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Font typeface="Arial"/>
              <a:buNone/>
            </a:pPr>
            <a:r>
              <a:rPr lang="fr" sz="3300">
                <a:solidFill>
                  <a:srgbClr val="FFFFFF"/>
                </a:solidFill>
              </a:rPr>
              <a:t>Contexte du projet</a:t>
            </a:r>
            <a:endParaRPr sz="100"/>
          </a:p>
        </p:txBody>
      </p:sp>
      <p:sp>
        <p:nvSpPr>
          <p:cNvPr id="70" name="Google Shape;70;p14"/>
          <p:cNvSpPr txBox="1"/>
          <p:nvPr/>
        </p:nvSpPr>
        <p:spPr>
          <a:xfrm>
            <a:off x="8816921" y="4862802"/>
            <a:ext cx="258300" cy="1848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fr" sz="1200" u="none" cap="none" strike="noStrike">
                <a:solidFill>
                  <a:srgbClr val="FFFFFF"/>
                </a:solidFill>
                <a:latin typeface="Arial"/>
                <a:ea typeface="Arial"/>
                <a:cs typeface="Arial"/>
                <a:sym typeface="Arial"/>
              </a:rPr>
              <a:t>0</a:t>
            </a:r>
            <a:r>
              <a:rPr lang="fr" sz="1200">
                <a:solidFill>
                  <a:srgbClr val="FFFFFF"/>
                </a:solidFill>
              </a:rPr>
              <a:t>2</a:t>
            </a:r>
            <a:endParaRPr sz="1200"/>
          </a:p>
        </p:txBody>
      </p:sp>
      <p:sp>
        <p:nvSpPr>
          <p:cNvPr id="71" name="Google Shape;71;p14"/>
          <p:cNvSpPr/>
          <p:nvPr/>
        </p:nvSpPr>
        <p:spPr>
          <a:xfrm>
            <a:off x="286075" y="1358425"/>
            <a:ext cx="5946000" cy="2432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4"/>
          <p:cNvSpPr txBox="1"/>
          <p:nvPr/>
        </p:nvSpPr>
        <p:spPr>
          <a:xfrm>
            <a:off x="478550" y="1225675"/>
            <a:ext cx="5260200" cy="209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sz="1700">
              <a:solidFill>
                <a:schemeClr val="dk1"/>
              </a:solidFill>
            </a:endParaRPr>
          </a:p>
          <a:p>
            <a:pPr indent="0" lvl="0" marL="0" rtl="0" algn="l">
              <a:lnSpc>
                <a:spcPct val="115000"/>
              </a:lnSpc>
              <a:spcBef>
                <a:spcPts val="1200"/>
              </a:spcBef>
              <a:spcAft>
                <a:spcPts val="1200"/>
              </a:spcAft>
              <a:buNone/>
            </a:pPr>
            <a:r>
              <a:rPr lang="fr">
                <a:solidFill>
                  <a:schemeClr val="dk1"/>
                </a:solidFill>
              </a:rPr>
              <a:t>Une structure solidaire (type Simplon) gère un stock important de matériel informatique. Elle a besoin non seulement de connaître son stock actuel, mais aussi de garder une trace de chaque entrée ou sortie pour éviter les vols ou les pertes. Vous devez concevoir une solution multi-tables capable de lier les produits à leurs catégories et d'historiser les mouvements.</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25EC5"/>
            </a:gs>
            <a:gs pos="100000">
              <a:srgbClr val="000000"/>
            </a:gs>
          </a:gsLst>
          <a:lin ang="0" scaled="0"/>
        </a:gradFill>
      </p:bgPr>
    </p:bg>
    <p:spTree>
      <p:nvGrpSpPr>
        <p:cNvPr id="76" name="Shape 76"/>
        <p:cNvGrpSpPr/>
        <p:nvPr/>
      </p:nvGrpSpPr>
      <p:grpSpPr>
        <a:xfrm>
          <a:off x="0" y="0"/>
          <a:ext cx="0" cy="0"/>
          <a:chOff x="0" y="0"/>
          <a:chExt cx="0" cy="0"/>
        </a:xfrm>
      </p:grpSpPr>
      <p:sp>
        <p:nvSpPr>
          <p:cNvPr id="77" name="Google Shape;77;p15"/>
          <p:cNvSpPr/>
          <p:nvPr/>
        </p:nvSpPr>
        <p:spPr>
          <a:xfrm>
            <a:off x="2514600" y="514350"/>
            <a:ext cx="4114800" cy="4114800"/>
          </a:xfrm>
          <a:custGeom>
            <a:rect b="b" l="l" r="r" t="t"/>
            <a:pathLst>
              <a:path extrusionOk="0" h="8229600" w="8229600">
                <a:moveTo>
                  <a:pt x="0" y="0"/>
                </a:moveTo>
                <a:lnTo>
                  <a:pt x="8229600" y="0"/>
                </a:lnTo>
                <a:lnTo>
                  <a:pt x="8229600" y="8229600"/>
                </a:lnTo>
                <a:lnTo>
                  <a:pt x="0" y="8229600"/>
                </a:lnTo>
                <a:lnTo>
                  <a:pt x="0" y="0"/>
                </a:lnTo>
                <a:close/>
              </a:path>
            </a:pathLst>
          </a:custGeom>
          <a:blipFill rotWithShape="1">
            <a:blip r:embed="rId3">
              <a:alphaModFix amt="18000"/>
            </a:blip>
            <a:stretch>
              <a:fillRect b="0" l="0" r="0" t="0"/>
            </a:stretch>
          </a:blipFill>
          <a:ln>
            <a:noFill/>
          </a:ln>
        </p:spPr>
      </p:sp>
      <p:grpSp>
        <p:nvGrpSpPr>
          <p:cNvPr id="78" name="Google Shape;78;p15"/>
          <p:cNvGrpSpPr/>
          <p:nvPr/>
        </p:nvGrpSpPr>
        <p:grpSpPr>
          <a:xfrm>
            <a:off x="8748156" y="4657244"/>
            <a:ext cx="395837" cy="486370"/>
            <a:chOff x="0" y="-47625"/>
            <a:chExt cx="208511" cy="256200"/>
          </a:xfrm>
        </p:grpSpPr>
        <p:sp>
          <p:nvSpPr>
            <p:cNvPr id="79" name="Google Shape;79;p15"/>
            <p:cNvSpPr/>
            <p:nvPr/>
          </p:nvSpPr>
          <p:spPr>
            <a:xfrm>
              <a:off x="0" y="0"/>
              <a:ext cx="208511" cy="208511"/>
            </a:xfrm>
            <a:custGeom>
              <a:rect b="b" l="l" r="r" t="t"/>
              <a:pathLst>
                <a:path extrusionOk="0" h="208511" w="208511">
                  <a:moveTo>
                    <a:pt x="0" y="0"/>
                  </a:moveTo>
                  <a:lnTo>
                    <a:pt x="208511" y="0"/>
                  </a:lnTo>
                  <a:lnTo>
                    <a:pt x="208511" y="208511"/>
                  </a:lnTo>
                  <a:lnTo>
                    <a:pt x="0" y="208511"/>
                  </a:lnTo>
                  <a:close/>
                </a:path>
              </a:pathLst>
            </a:custGeom>
            <a:solidFill>
              <a:srgbClr val="2B52A5"/>
            </a:solidFill>
            <a:ln>
              <a:noFill/>
            </a:ln>
          </p:spPr>
        </p:sp>
        <p:sp>
          <p:nvSpPr>
            <p:cNvPr id="80" name="Google Shape;80;p15"/>
            <p:cNvSpPr txBox="1"/>
            <p:nvPr/>
          </p:nvSpPr>
          <p:spPr>
            <a:xfrm>
              <a:off x="0" y="-47625"/>
              <a:ext cx="208500" cy="256200"/>
            </a:xfrm>
            <a:prstGeom prst="rect">
              <a:avLst/>
            </a:prstGeom>
            <a:noFill/>
            <a:ln>
              <a:noFill/>
            </a:ln>
          </p:spPr>
          <p:txBody>
            <a:bodyPr anchorCtr="0" anchor="ctr" bIns="25400" lIns="25400" spcFirstLastPara="1" rIns="25400" wrap="square" tIns="25400">
              <a:noAutofit/>
            </a:bodyPr>
            <a:lstStyle/>
            <a:p>
              <a:pPr indent="0" lvl="0" marL="0" marR="0" rtl="0" algn="ctr">
                <a:lnSpc>
                  <a:spcPct val="123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81" name="Google Shape;81;p15"/>
          <p:cNvSpPr txBox="1"/>
          <p:nvPr/>
        </p:nvSpPr>
        <p:spPr>
          <a:xfrm>
            <a:off x="286075" y="249700"/>
            <a:ext cx="7311300" cy="507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Font typeface="Arial"/>
              <a:buNone/>
            </a:pPr>
            <a:r>
              <a:rPr lang="fr" sz="3300">
                <a:solidFill>
                  <a:srgbClr val="FFFFFF"/>
                </a:solidFill>
              </a:rPr>
              <a:t>Fonctionnalités attendues</a:t>
            </a:r>
            <a:endParaRPr sz="100"/>
          </a:p>
        </p:txBody>
      </p:sp>
      <p:sp>
        <p:nvSpPr>
          <p:cNvPr id="82" name="Google Shape;82;p15"/>
          <p:cNvSpPr txBox="1"/>
          <p:nvPr/>
        </p:nvSpPr>
        <p:spPr>
          <a:xfrm>
            <a:off x="8816921" y="4862802"/>
            <a:ext cx="258300" cy="184800"/>
          </a:xfrm>
          <a:prstGeom prst="rect">
            <a:avLst/>
          </a:prstGeom>
          <a:noFill/>
          <a:ln>
            <a:noFill/>
          </a:ln>
        </p:spPr>
        <p:txBody>
          <a:bodyPr anchorCtr="0" anchor="t" bIns="0" lIns="0" spcFirstLastPara="1" rIns="0" wrap="square" tIns="0">
            <a:spAutoFit/>
          </a:bodyPr>
          <a:lstStyle/>
          <a:p>
            <a:pPr indent="0" lvl="0" marL="0" rtl="0" algn="ctr">
              <a:lnSpc>
                <a:spcPct val="140025"/>
              </a:lnSpc>
              <a:spcBef>
                <a:spcPts val="0"/>
              </a:spcBef>
              <a:spcAft>
                <a:spcPts val="0"/>
              </a:spcAft>
              <a:buNone/>
            </a:pPr>
            <a:r>
              <a:rPr lang="fr" sz="1200">
                <a:solidFill>
                  <a:srgbClr val="FFFFFF"/>
                </a:solidFill>
              </a:rPr>
              <a:t>02</a:t>
            </a:r>
            <a:endParaRPr sz="1200"/>
          </a:p>
        </p:txBody>
      </p:sp>
      <p:sp>
        <p:nvSpPr>
          <p:cNvPr id="83" name="Google Shape;83;p15"/>
          <p:cNvSpPr/>
          <p:nvPr/>
        </p:nvSpPr>
        <p:spPr>
          <a:xfrm>
            <a:off x="82600" y="982100"/>
            <a:ext cx="8857200" cy="353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5"/>
          <p:cNvSpPr txBox="1"/>
          <p:nvPr/>
        </p:nvSpPr>
        <p:spPr>
          <a:xfrm>
            <a:off x="82600" y="123475"/>
            <a:ext cx="8665200" cy="366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sz="1700">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fr">
                <a:solidFill>
                  <a:schemeClr val="dk1"/>
                </a:solidFill>
              </a:rPr>
              <a:t> Gestion des Catégories : Ajouter et lister des catégories (Informatique, Papeterie, Mobilier).</a:t>
            </a:r>
            <a:endParaRPr>
              <a:solidFill>
                <a:schemeClr val="dk1"/>
              </a:solidFill>
            </a:endParaRPr>
          </a:p>
          <a:p>
            <a:pPr indent="0" lvl="0" marL="0" rtl="0" algn="l">
              <a:lnSpc>
                <a:spcPct val="115000"/>
              </a:lnSpc>
              <a:spcBef>
                <a:spcPts val="1200"/>
              </a:spcBef>
              <a:spcAft>
                <a:spcPts val="0"/>
              </a:spcAft>
              <a:buNone/>
            </a:pPr>
            <a:r>
              <a:rPr lang="fr">
                <a:solidFill>
                  <a:schemeClr val="dk1"/>
                </a:solidFill>
              </a:rPr>
              <a:t> Catalogue Produits : Ajouter un produit en l'associant obligatoirement à une catégorie existante.</a:t>
            </a:r>
            <a:endParaRPr>
              <a:solidFill>
                <a:schemeClr val="dk1"/>
              </a:solidFill>
            </a:endParaRPr>
          </a:p>
          <a:p>
            <a:pPr indent="0" lvl="0" marL="0" rtl="0" algn="l">
              <a:lnSpc>
                <a:spcPct val="115000"/>
              </a:lnSpc>
              <a:spcBef>
                <a:spcPts val="1200"/>
              </a:spcBef>
              <a:spcAft>
                <a:spcPts val="0"/>
              </a:spcAft>
              <a:buNone/>
            </a:pPr>
            <a:r>
              <a:rPr lang="fr">
                <a:solidFill>
                  <a:schemeClr val="dk1"/>
                </a:solidFill>
              </a:rPr>
              <a:t> Mouvement de Stock : Ajouter ou retirer une quantité. Chaque opération doit automatiquement créer</a:t>
            </a:r>
            <a:endParaRPr>
              <a:solidFill>
                <a:schemeClr val="dk1"/>
              </a:solidFill>
            </a:endParaRPr>
          </a:p>
          <a:p>
            <a:pPr indent="0" lvl="0" marL="0" rtl="0" algn="l">
              <a:lnSpc>
                <a:spcPct val="115000"/>
              </a:lnSpc>
              <a:spcBef>
                <a:spcPts val="1200"/>
              </a:spcBef>
              <a:spcAft>
                <a:spcPts val="0"/>
              </a:spcAft>
              <a:buNone/>
            </a:pPr>
            <a:r>
              <a:rPr lang="fr">
                <a:solidFill>
                  <a:schemeClr val="dk1"/>
                </a:solidFill>
              </a:rPr>
              <a:t> une ligne dans une table historique (Date, ID Produit, Quantité, Type : Entrée/Sortie).</a:t>
            </a:r>
            <a:endParaRPr>
              <a:solidFill>
                <a:schemeClr val="dk1"/>
              </a:solidFill>
            </a:endParaRPr>
          </a:p>
          <a:p>
            <a:pPr indent="0" lvl="0" marL="0" rtl="0" algn="l">
              <a:lnSpc>
                <a:spcPct val="115000"/>
              </a:lnSpc>
              <a:spcBef>
                <a:spcPts val="1200"/>
              </a:spcBef>
              <a:spcAft>
                <a:spcPts val="0"/>
              </a:spcAft>
              <a:buNone/>
            </a:pPr>
            <a:r>
              <a:rPr lang="fr">
                <a:solidFill>
                  <a:schemeClr val="dk1"/>
                </a:solidFill>
              </a:rPr>
              <a:t> Afficher la liste des produits avec le nom de leur catégorie</a:t>
            </a:r>
            <a:endParaRPr>
              <a:solidFill>
                <a:schemeClr val="dk1"/>
              </a:solidFill>
            </a:endParaRPr>
          </a:p>
          <a:p>
            <a:pPr indent="0" lvl="0" marL="0" rtl="0" algn="l">
              <a:lnSpc>
                <a:spcPct val="115000"/>
              </a:lnSpc>
              <a:spcBef>
                <a:spcPts val="1200"/>
              </a:spcBef>
              <a:spcAft>
                <a:spcPts val="1200"/>
              </a:spcAft>
              <a:buNone/>
            </a:pPr>
            <a:r>
              <a:rPr lang="fr">
                <a:solidFill>
                  <a:schemeClr val="dk1"/>
                </a:solidFill>
              </a:rPr>
              <a:t> Alerte : Afficher tous les produits dont le stock est inférieur à 5 unités.</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25EC5"/>
            </a:gs>
            <a:gs pos="100000">
              <a:srgbClr val="000000"/>
            </a:gs>
          </a:gsLst>
          <a:lin ang="0" scaled="0"/>
        </a:gradFill>
      </p:bgPr>
    </p:bg>
    <p:spTree>
      <p:nvGrpSpPr>
        <p:cNvPr id="88" name="Shape 88"/>
        <p:cNvGrpSpPr/>
        <p:nvPr/>
      </p:nvGrpSpPr>
      <p:grpSpPr>
        <a:xfrm>
          <a:off x="0" y="0"/>
          <a:ext cx="0" cy="0"/>
          <a:chOff x="0" y="0"/>
          <a:chExt cx="0" cy="0"/>
        </a:xfrm>
      </p:grpSpPr>
      <p:sp>
        <p:nvSpPr>
          <p:cNvPr id="89" name="Google Shape;89;p16"/>
          <p:cNvSpPr/>
          <p:nvPr/>
        </p:nvSpPr>
        <p:spPr>
          <a:xfrm>
            <a:off x="2514600" y="514350"/>
            <a:ext cx="4114800" cy="4114800"/>
          </a:xfrm>
          <a:custGeom>
            <a:rect b="b" l="l" r="r" t="t"/>
            <a:pathLst>
              <a:path extrusionOk="0" h="8229600" w="8229600">
                <a:moveTo>
                  <a:pt x="0" y="0"/>
                </a:moveTo>
                <a:lnTo>
                  <a:pt x="8229600" y="0"/>
                </a:lnTo>
                <a:lnTo>
                  <a:pt x="8229600" y="8229600"/>
                </a:lnTo>
                <a:lnTo>
                  <a:pt x="0" y="8229600"/>
                </a:lnTo>
                <a:lnTo>
                  <a:pt x="0" y="0"/>
                </a:lnTo>
                <a:close/>
              </a:path>
            </a:pathLst>
          </a:custGeom>
          <a:blipFill rotWithShape="1">
            <a:blip r:embed="rId3">
              <a:alphaModFix amt="18000"/>
            </a:blip>
            <a:stretch>
              <a:fillRect b="0" l="0" r="0" t="0"/>
            </a:stretch>
          </a:blipFill>
          <a:ln>
            <a:noFill/>
          </a:ln>
        </p:spPr>
      </p:sp>
      <p:grpSp>
        <p:nvGrpSpPr>
          <p:cNvPr id="90" name="Google Shape;90;p16"/>
          <p:cNvGrpSpPr/>
          <p:nvPr/>
        </p:nvGrpSpPr>
        <p:grpSpPr>
          <a:xfrm>
            <a:off x="8748156" y="4657244"/>
            <a:ext cx="395837" cy="486370"/>
            <a:chOff x="0" y="-47625"/>
            <a:chExt cx="208511" cy="256200"/>
          </a:xfrm>
        </p:grpSpPr>
        <p:sp>
          <p:nvSpPr>
            <p:cNvPr id="91" name="Google Shape;91;p16"/>
            <p:cNvSpPr/>
            <p:nvPr/>
          </p:nvSpPr>
          <p:spPr>
            <a:xfrm>
              <a:off x="0" y="0"/>
              <a:ext cx="208511" cy="208511"/>
            </a:xfrm>
            <a:custGeom>
              <a:rect b="b" l="l" r="r" t="t"/>
              <a:pathLst>
                <a:path extrusionOk="0" h="208511" w="208511">
                  <a:moveTo>
                    <a:pt x="0" y="0"/>
                  </a:moveTo>
                  <a:lnTo>
                    <a:pt x="208511" y="0"/>
                  </a:lnTo>
                  <a:lnTo>
                    <a:pt x="208511" y="208511"/>
                  </a:lnTo>
                  <a:lnTo>
                    <a:pt x="0" y="208511"/>
                  </a:lnTo>
                  <a:close/>
                </a:path>
              </a:pathLst>
            </a:custGeom>
            <a:solidFill>
              <a:srgbClr val="2B52A5"/>
            </a:solidFill>
            <a:ln>
              <a:noFill/>
            </a:ln>
          </p:spPr>
        </p:sp>
        <p:sp>
          <p:nvSpPr>
            <p:cNvPr id="92" name="Google Shape;92;p16"/>
            <p:cNvSpPr txBox="1"/>
            <p:nvPr/>
          </p:nvSpPr>
          <p:spPr>
            <a:xfrm>
              <a:off x="0" y="-47625"/>
              <a:ext cx="208500" cy="256200"/>
            </a:xfrm>
            <a:prstGeom prst="rect">
              <a:avLst/>
            </a:prstGeom>
            <a:noFill/>
            <a:ln>
              <a:noFill/>
            </a:ln>
          </p:spPr>
          <p:txBody>
            <a:bodyPr anchorCtr="0" anchor="ctr" bIns="25400" lIns="25400" spcFirstLastPara="1" rIns="25400" wrap="square" tIns="25400">
              <a:noAutofit/>
            </a:bodyPr>
            <a:lstStyle/>
            <a:p>
              <a:pPr indent="0" lvl="0" marL="0" marR="0" rtl="0" algn="ctr">
                <a:lnSpc>
                  <a:spcPct val="123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93" name="Google Shape;93;p16"/>
          <p:cNvSpPr txBox="1"/>
          <p:nvPr/>
        </p:nvSpPr>
        <p:spPr>
          <a:xfrm>
            <a:off x="286075" y="249700"/>
            <a:ext cx="7311300" cy="507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Font typeface="Arial"/>
              <a:buNone/>
            </a:pPr>
            <a:r>
              <a:rPr lang="fr" sz="3300">
                <a:solidFill>
                  <a:srgbClr val="FFFFFF"/>
                </a:solidFill>
              </a:rPr>
              <a:t>Attribut et Entité</a:t>
            </a:r>
            <a:endParaRPr sz="100"/>
          </a:p>
        </p:txBody>
      </p:sp>
      <p:sp>
        <p:nvSpPr>
          <p:cNvPr id="94" name="Google Shape;94;p16"/>
          <p:cNvSpPr txBox="1"/>
          <p:nvPr/>
        </p:nvSpPr>
        <p:spPr>
          <a:xfrm>
            <a:off x="8816921" y="4862802"/>
            <a:ext cx="258300" cy="1848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lang="fr" sz="1200">
                <a:solidFill>
                  <a:srgbClr val="FFFFFF"/>
                </a:solidFill>
              </a:rPr>
              <a:t>03</a:t>
            </a:r>
            <a:endParaRPr sz="1200"/>
          </a:p>
        </p:txBody>
      </p:sp>
      <p:sp>
        <p:nvSpPr>
          <p:cNvPr id="95" name="Google Shape;95;p16"/>
          <p:cNvSpPr/>
          <p:nvPr/>
        </p:nvSpPr>
        <p:spPr>
          <a:xfrm>
            <a:off x="82600" y="1005046"/>
            <a:ext cx="8857200" cy="353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6"/>
          <p:cNvSpPr txBox="1"/>
          <p:nvPr/>
        </p:nvSpPr>
        <p:spPr>
          <a:xfrm>
            <a:off x="536175" y="1074675"/>
            <a:ext cx="8665200" cy="281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fr">
                <a:solidFill>
                  <a:schemeClr val="dk1"/>
                </a:solidFill>
              </a:rPr>
              <a:t>Categorie(id_categorie, nom_categorie)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fr">
                <a:solidFill>
                  <a:schemeClr val="dk1"/>
                </a:solidFill>
              </a:rPr>
              <a:t>Produit(id_produit, designation_produit, prix_produit, stock, id_categorie)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fr">
                <a:solidFill>
                  <a:schemeClr val="dk1"/>
                </a:solidFill>
              </a:rPr>
              <a:t>Mouvement(id_mouvement, id_produit, quantite_mouvement, type_mouvement, date_mouvement)</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
        <p:nvSpPr>
          <p:cNvPr id="97" name="Google Shape;97;p16"/>
          <p:cNvSpPr/>
          <p:nvPr/>
        </p:nvSpPr>
        <p:spPr>
          <a:xfrm>
            <a:off x="286075" y="1542000"/>
            <a:ext cx="258300" cy="263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6"/>
          <p:cNvSpPr/>
          <p:nvPr/>
        </p:nvSpPr>
        <p:spPr>
          <a:xfrm>
            <a:off x="286075" y="2348175"/>
            <a:ext cx="258300" cy="263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6"/>
          <p:cNvSpPr/>
          <p:nvPr/>
        </p:nvSpPr>
        <p:spPr>
          <a:xfrm>
            <a:off x="286075" y="3154350"/>
            <a:ext cx="258300" cy="263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25EC5"/>
            </a:gs>
            <a:gs pos="100000">
              <a:srgbClr val="000000"/>
            </a:gs>
          </a:gsLst>
          <a:lin ang="0" scaled="0"/>
        </a:gradFill>
      </p:bgPr>
    </p:bg>
    <p:spTree>
      <p:nvGrpSpPr>
        <p:cNvPr id="103" name="Shape 103"/>
        <p:cNvGrpSpPr/>
        <p:nvPr/>
      </p:nvGrpSpPr>
      <p:grpSpPr>
        <a:xfrm>
          <a:off x="0" y="0"/>
          <a:ext cx="0" cy="0"/>
          <a:chOff x="0" y="0"/>
          <a:chExt cx="0" cy="0"/>
        </a:xfrm>
      </p:grpSpPr>
      <p:sp>
        <p:nvSpPr>
          <p:cNvPr id="104" name="Google Shape;104;p17"/>
          <p:cNvSpPr/>
          <p:nvPr/>
        </p:nvSpPr>
        <p:spPr>
          <a:xfrm>
            <a:off x="2514600" y="514350"/>
            <a:ext cx="4114800" cy="4114800"/>
          </a:xfrm>
          <a:custGeom>
            <a:rect b="b" l="l" r="r" t="t"/>
            <a:pathLst>
              <a:path extrusionOk="0" h="8229600" w="8229600">
                <a:moveTo>
                  <a:pt x="0" y="0"/>
                </a:moveTo>
                <a:lnTo>
                  <a:pt x="8229600" y="0"/>
                </a:lnTo>
                <a:lnTo>
                  <a:pt x="8229600" y="8229600"/>
                </a:lnTo>
                <a:lnTo>
                  <a:pt x="0" y="8229600"/>
                </a:lnTo>
                <a:lnTo>
                  <a:pt x="0" y="0"/>
                </a:lnTo>
                <a:close/>
              </a:path>
            </a:pathLst>
          </a:custGeom>
          <a:blipFill rotWithShape="1">
            <a:blip r:embed="rId3">
              <a:alphaModFix amt="18000"/>
            </a:blip>
            <a:stretch>
              <a:fillRect b="0" l="0" r="0" t="0"/>
            </a:stretch>
          </a:blipFill>
          <a:ln>
            <a:noFill/>
          </a:ln>
        </p:spPr>
      </p:sp>
      <p:grpSp>
        <p:nvGrpSpPr>
          <p:cNvPr id="105" name="Google Shape;105;p17"/>
          <p:cNvGrpSpPr/>
          <p:nvPr/>
        </p:nvGrpSpPr>
        <p:grpSpPr>
          <a:xfrm>
            <a:off x="8748156" y="4657244"/>
            <a:ext cx="395837" cy="486370"/>
            <a:chOff x="0" y="-47625"/>
            <a:chExt cx="208511" cy="256200"/>
          </a:xfrm>
        </p:grpSpPr>
        <p:sp>
          <p:nvSpPr>
            <p:cNvPr id="106" name="Google Shape;106;p17"/>
            <p:cNvSpPr/>
            <p:nvPr/>
          </p:nvSpPr>
          <p:spPr>
            <a:xfrm>
              <a:off x="0" y="0"/>
              <a:ext cx="208511" cy="208511"/>
            </a:xfrm>
            <a:custGeom>
              <a:rect b="b" l="l" r="r" t="t"/>
              <a:pathLst>
                <a:path extrusionOk="0" h="208511" w="208511">
                  <a:moveTo>
                    <a:pt x="0" y="0"/>
                  </a:moveTo>
                  <a:lnTo>
                    <a:pt x="208511" y="0"/>
                  </a:lnTo>
                  <a:lnTo>
                    <a:pt x="208511" y="208511"/>
                  </a:lnTo>
                  <a:lnTo>
                    <a:pt x="0" y="208511"/>
                  </a:lnTo>
                  <a:close/>
                </a:path>
              </a:pathLst>
            </a:custGeom>
            <a:solidFill>
              <a:srgbClr val="2B52A5"/>
            </a:solidFill>
            <a:ln>
              <a:noFill/>
            </a:ln>
          </p:spPr>
        </p:sp>
        <p:sp>
          <p:nvSpPr>
            <p:cNvPr id="107" name="Google Shape;107;p17"/>
            <p:cNvSpPr txBox="1"/>
            <p:nvPr/>
          </p:nvSpPr>
          <p:spPr>
            <a:xfrm>
              <a:off x="0" y="-47625"/>
              <a:ext cx="208500" cy="256200"/>
            </a:xfrm>
            <a:prstGeom prst="rect">
              <a:avLst/>
            </a:prstGeom>
            <a:noFill/>
            <a:ln>
              <a:noFill/>
            </a:ln>
          </p:spPr>
          <p:txBody>
            <a:bodyPr anchorCtr="0" anchor="ctr" bIns="25400" lIns="25400" spcFirstLastPara="1" rIns="25400" wrap="square" tIns="25400">
              <a:noAutofit/>
            </a:bodyPr>
            <a:lstStyle/>
            <a:p>
              <a:pPr indent="0" lvl="0" marL="0" marR="0" rtl="0" algn="ctr">
                <a:lnSpc>
                  <a:spcPct val="123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08" name="Google Shape;108;p17"/>
          <p:cNvSpPr txBox="1"/>
          <p:nvPr/>
        </p:nvSpPr>
        <p:spPr>
          <a:xfrm>
            <a:off x="286075" y="249700"/>
            <a:ext cx="7311300" cy="507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Font typeface="Arial"/>
              <a:buNone/>
            </a:pPr>
            <a:r>
              <a:rPr lang="fr" sz="3300">
                <a:solidFill>
                  <a:srgbClr val="FFFFFF"/>
                </a:solidFill>
              </a:rPr>
              <a:t>Association et phrase </a:t>
            </a:r>
            <a:r>
              <a:rPr lang="fr" sz="3300">
                <a:solidFill>
                  <a:srgbClr val="FFFFFF"/>
                </a:solidFill>
              </a:rPr>
              <a:t>métier</a:t>
            </a:r>
            <a:endParaRPr sz="100"/>
          </a:p>
        </p:txBody>
      </p:sp>
      <p:sp>
        <p:nvSpPr>
          <p:cNvPr id="109" name="Google Shape;109;p17"/>
          <p:cNvSpPr txBox="1"/>
          <p:nvPr/>
        </p:nvSpPr>
        <p:spPr>
          <a:xfrm>
            <a:off x="8816921" y="4862802"/>
            <a:ext cx="258300" cy="1848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lang="fr" sz="1200">
                <a:solidFill>
                  <a:srgbClr val="FFFFFF"/>
                </a:solidFill>
              </a:rPr>
              <a:t>04</a:t>
            </a:r>
            <a:endParaRPr sz="1200"/>
          </a:p>
        </p:txBody>
      </p:sp>
      <p:sp>
        <p:nvSpPr>
          <p:cNvPr id="110" name="Google Shape;110;p17"/>
          <p:cNvSpPr/>
          <p:nvPr/>
        </p:nvSpPr>
        <p:spPr>
          <a:xfrm>
            <a:off x="82600" y="982100"/>
            <a:ext cx="8925900" cy="353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7"/>
          <p:cNvSpPr txBox="1"/>
          <p:nvPr/>
        </p:nvSpPr>
        <p:spPr>
          <a:xfrm>
            <a:off x="575950" y="1331350"/>
            <a:ext cx="8499300" cy="335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sz="1700">
              <a:solidFill>
                <a:schemeClr val="dk1"/>
              </a:solidFill>
            </a:endParaRPr>
          </a:p>
          <a:p>
            <a:pPr indent="0" lvl="0" marL="0" rtl="0" algn="l">
              <a:lnSpc>
                <a:spcPct val="115000"/>
              </a:lnSpc>
              <a:spcBef>
                <a:spcPts val="1200"/>
              </a:spcBef>
              <a:spcAft>
                <a:spcPts val="0"/>
              </a:spcAft>
              <a:buNone/>
            </a:pPr>
            <a:r>
              <a:rPr lang="fr">
                <a:solidFill>
                  <a:schemeClr val="accent1"/>
                </a:solidFill>
              </a:rPr>
              <a:t>Catégorie</a:t>
            </a:r>
            <a:r>
              <a:rPr lang="fr">
                <a:solidFill>
                  <a:schemeClr val="accent1"/>
                </a:solidFill>
              </a:rPr>
              <a:t>(0,n) ← Produit(1,1)  </a:t>
            </a:r>
            <a:r>
              <a:rPr lang="fr">
                <a:solidFill>
                  <a:schemeClr val="dk1"/>
                </a:solidFill>
              </a:rPr>
              <a:t>     Une catégorie peut avoir 0 ou plusieurs produits ; un produit appartient à 1 seule catégorie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fr">
                <a:solidFill>
                  <a:schemeClr val="accent1"/>
                </a:solidFill>
              </a:rPr>
              <a:t>Produit(0,n) ← Mouvement(1,1)      </a:t>
            </a:r>
            <a:r>
              <a:rPr lang="fr">
                <a:solidFill>
                  <a:schemeClr val="dk1"/>
                </a:solidFill>
              </a:rPr>
              <a:t>Un produit peut avoir 0 ou plusieurs mouvements ; un mouvement concerne 1 seul produit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
        <p:nvSpPr>
          <p:cNvPr id="112" name="Google Shape;112;p17"/>
          <p:cNvSpPr/>
          <p:nvPr/>
        </p:nvSpPr>
        <p:spPr>
          <a:xfrm>
            <a:off x="248650" y="1805825"/>
            <a:ext cx="327300" cy="371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7"/>
          <p:cNvSpPr/>
          <p:nvPr/>
        </p:nvSpPr>
        <p:spPr>
          <a:xfrm>
            <a:off x="197325" y="2825200"/>
            <a:ext cx="327300" cy="371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25EC5"/>
            </a:gs>
            <a:gs pos="100000">
              <a:srgbClr val="000000"/>
            </a:gs>
          </a:gsLst>
          <a:lin ang="0" scaled="0"/>
        </a:gradFill>
      </p:bgPr>
    </p:bg>
    <p:spTree>
      <p:nvGrpSpPr>
        <p:cNvPr id="117" name="Shape 117"/>
        <p:cNvGrpSpPr/>
        <p:nvPr/>
      </p:nvGrpSpPr>
      <p:grpSpPr>
        <a:xfrm>
          <a:off x="0" y="0"/>
          <a:ext cx="0" cy="0"/>
          <a:chOff x="0" y="0"/>
          <a:chExt cx="0" cy="0"/>
        </a:xfrm>
      </p:grpSpPr>
      <p:grpSp>
        <p:nvGrpSpPr>
          <p:cNvPr id="118" name="Google Shape;118;p18"/>
          <p:cNvGrpSpPr/>
          <p:nvPr/>
        </p:nvGrpSpPr>
        <p:grpSpPr>
          <a:xfrm>
            <a:off x="8748156" y="4657239"/>
            <a:ext cx="395858" cy="486396"/>
            <a:chOff x="0" y="-47625"/>
            <a:chExt cx="208511" cy="256200"/>
          </a:xfrm>
        </p:grpSpPr>
        <p:sp>
          <p:nvSpPr>
            <p:cNvPr id="119" name="Google Shape;119;p18"/>
            <p:cNvSpPr/>
            <p:nvPr/>
          </p:nvSpPr>
          <p:spPr>
            <a:xfrm>
              <a:off x="0" y="0"/>
              <a:ext cx="208511" cy="208511"/>
            </a:xfrm>
            <a:custGeom>
              <a:rect b="b" l="l" r="r" t="t"/>
              <a:pathLst>
                <a:path extrusionOk="0" h="208511" w="208511">
                  <a:moveTo>
                    <a:pt x="0" y="0"/>
                  </a:moveTo>
                  <a:lnTo>
                    <a:pt x="208511" y="0"/>
                  </a:lnTo>
                  <a:lnTo>
                    <a:pt x="208511" y="208511"/>
                  </a:lnTo>
                  <a:lnTo>
                    <a:pt x="0" y="208511"/>
                  </a:lnTo>
                  <a:close/>
                </a:path>
              </a:pathLst>
            </a:custGeom>
            <a:solidFill>
              <a:srgbClr val="2B52A5"/>
            </a:solidFill>
            <a:ln>
              <a:noFill/>
            </a:ln>
          </p:spPr>
        </p:sp>
        <p:sp>
          <p:nvSpPr>
            <p:cNvPr id="120" name="Google Shape;120;p18"/>
            <p:cNvSpPr txBox="1"/>
            <p:nvPr/>
          </p:nvSpPr>
          <p:spPr>
            <a:xfrm>
              <a:off x="0" y="-47625"/>
              <a:ext cx="208500" cy="256200"/>
            </a:xfrm>
            <a:prstGeom prst="rect">
              <a:avLst/>
            </a:prstGeom>
            <a:noFill/>
            <a:ln>
              <a:noFill/>
            </a:ln>
          </p:spPr>
          <p:txBody>
            <a:bodyPr anchorCtr="0" anchor="ctr" bIns="25400" lIns="25400" spcFirstLastPara="1" rIns="25400" wrap="square" tIns="25400">
              <a:noAutofit/>
            </a:bodyPr>
            <a:lstStyle/>
            <a:p>
              <a:pPr indent="0" lvl="0" marL="0" marR="0" rtl="0" algn="ctr">
                <a:lnSpc>
                  <a:spcPct val="123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21" name="Google Shape;121;p18"/>
          <p:cNvSpPr txBox="1"/>
          <p:nvPr/>
        </p:nvSpPr>
        <p:spPr>
          <a:xfrm>
            <a:off x="8816921" y="4862802"/>
            <a:ext cx="258300" cy="1230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lang="fr" sz="800">
                <a:solidFill>
                  <a:srgbClr val="FFFFFF"/>
                </a:solidFill>
              </a:rPr>
              <a:t>06</a:t>
            </a:r>
            <a:endParaRPr sz="700"/>
          </a:p>
        </p:txBody>
      </p:sp>
      <p:pic>
        <p:nvPicPr>
          <p:cNvPr id="122" name="Google Shape;122;p18"/>
          <p:cNvPicPr preferRelativeResize="0"/>
          <p:nvPr/>
        </p:nvPicPr>
        <p:blipFill>
          <a:blip r:embed="rId3">
            <a:alphaModFix/>
          </a:blip>
          <a:stretch>
            <a:fillRect/>
          </a:stretch>
        </p:blipFill>
        <p:spPr>
          <a:xfrm>
            <a:off x="-235700" y="0"/>
            <a:ext cx="5332024" cy="5143499"/>
          </a:xfrm>
          <a:prstGeom prst="rect">
            <a:avLst/>
          </a:prstGeom>
          <a:noFill/>
          <a:ln>
            <a:noFill/>
          </a:ln>
        </p:spPr>
      </p:pic>
      <p:sp>
        <p:nvSpPr>
          <p:cNvPr id="123" name="Google Shape;123;p18"/>
          <p:cNvSpPr txBox="1"/>
          <p:nvPr/>
        </p:nvSpPr>
        <p:spPr>
          <a:xfrm>
            <a:off x="6343825" y="169375"/>
            <a:ext cx="1184700" cy="507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Font typeface="Arial"/>
              <a:buNone/>
            </a:pPr>
            <a:r>
              <a:rPr lang="fr" sz="3300">
                <a:solidFill>
                  <a:srgbClr val="FFFFFF"/>
                </a:solidFill>
              </a:rPr>
              <a:t>MCD</a:t>
            </a:r>
            <a:endParaRPr sz="100"/>
          </a:p>
        </p:txBody>
      </p:sp>
    </p:spTree>
  </p:cSld>
  <p:clrMapOvr>
    <a:masterClrMapping/>
  </p:clrMapOvr>
  <mc:AlternateContent>
    <mc:Choice Requires="p14">
      <p:transition spd="slow" p14:dur="1200">
        <p14:prism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25EC5"/>
            </a:gs>
            <a:gs pos="100000">
              <a:srgbClr val="000000"/>
            </a:gs>
          </a:gsLst>
          <a:lin ang="0" scaled="0"/>
        </a:gradFill>
      </p:bgPr>
    </p:bg>
    <p:spTree>
      <p:nvGrpSpPr>
        <p:cNvPr id="127" name="Shape 127"/>
        <p:cNvGrpSpPr/>
        <p:nvPr/>
      </p:nvGrpSpPr>
      <p:grpSpPr>
        <a:xfrm>
          <a:off x="0" y="0"/>
          <a:ext cx="0" cy="0"/>
          <a:chOff x="0" y="0"/>
          <a:chExt cx="0" cy="0"/>
        </a:xfrm>
      </p:grpSpPr>
      <p:sp>
        <p:nvSpPr>
          <p:cNvPr id="128" name="Google Shape;128;p19"/>
          <p:cNvSpPr/>
          <p:nvPr/>
        </p:nvSpPr>
        <p:spPr>
          <a:xfrm>
            <a:off x="2514600" y="514350"/>
            <a:ext cx="4114800" cy="4114800"/>
          </a:xfrm>
          <a:custGeom>
            <a:rect b="b" l="l" r="r" t="t"/>
            <a:pathLst>
              <a:path extrusionOk="0" h="8229600" w="8229600">
                <a:moveTo>
                  <a:pt x="0" y="0"/>
                </a:moveTo>
                <a:lnTo>
                  <a:pt x="8229600" y="0"/>
                </a:lnTo>
                <a:lnTo>
                  <a:pt x="8229600" y="8229600"/>
                </a:lnTo>
                <a:lnTo>
                  <a:pt x="0" y="8229600"/>
                </a:lnTo>
                <a:lnTo>
                  <a:pt x="0" y="0"/>
                </a:lnTo>
                <a:close/>
              </a:path>
            </a:pathLst>
          </a:custGeom>
          <a:blipFill rotWithShape="1">
            <a:blip r:embed="rId3">
              <a:alphaModFix amt="18000"/>
            </a:blip>
            <a:stretch>
              <a:fillRect b="0" l="0" r="0" t="0"/>
            </a:stretch>
          </a:blipFill>
          <a:ln>
            <a:noFill/>
          </a:ln>
        </p:spPr>
      </p:sp>
      <p:grpSp>
        <p:nvGrpSpPr>
          <p:cNvPr id="129" name="Google Shape;129;p19"/>
          <p:cNvGrpSpPr/>
          <p:nvPr/>
        </p:nvGrpSpPr>
        <p:grpSpPr>
          <a:xfrm>
            <a:off x="8748156" y="4657244"/>
            <a:ext cx="395837" cy="486370"/>
            <a:chOff x="0" y="-47625"/>
            <a:chExt cx="208511" cy="256200"/>
          </a:xfrm>
        </p:grpSpPr>
        <p:sp>
          <p:nvSpPr>
            <p:cNvPr id="130" name="Google Shape;130;p19"/>
            <p:cNvSpPr/>
            <p:nvPr/>
          </p:nvSpPr>
          <p:spPr>
            <a:xfrm>
              <a:off x="0" y="0"/>
              <a:ext cx="208511" cy="208511"/>
            </a:xfrm>
            <a:custGeom>
              <a:rect b="b" l="l" r="r" t="t"/>
              <a:pathLst>
                <a:path extrusionOk="0" h="208511" w="208511">
                  <a:moveTo>
                    <a:pt x="0" y="0"/>
                  </a:moveTo>
                  <a:lnTo>
                    <a:pt x="208511" y="0"/>
                  </a:lnTo>
                  <a:lnTo>
                    <a:pt x="208511" y="208511"/>
                  </a:lnTo>
                  <a:lnTo>
                    <a:pt x="0" y="208511"/>
                  </a:lnTo>
                  <a:close/>
                </a:path>
              </a:pathLst>
            </a:custGeom>
            <a:solidFill>
              <a:srgbClr val="2B52A5"/>
            </a:solidFill>
            <a:ln>
              <a:noFill/>
            </a:ln>
          </p:spPr>
        </p:sp>
        <p:sp>
          <p:nvSpPr>
            <p:cNvPr id="131" name="Google Shape;131;p19"/>
            <p:cNvSpPr txBox="1"/>
            <p:nvPr/>
          </p:nvSpPr>
          <p:spPr>
            <a:xfrm>
              <a:off x="0" y="-47625"/>
              <a:ext cx="208500" cy="256200"/>
            </a:xfrm>
            <a:prstGeom prst="rect">
              <a:avLst/>
            </a:prstGeom>
            <a:noFill/>
            <a:ln>
              <a:noFill/>
            </a:ln>
          </p:spPr>
          <p:txBody>
            <a:bodyPr anchorCtr="0" anchor="ctr" bIns="25400" lIns="25400" spcFirstLastPara="1" rIns="25400" wrap="square" tIns="25400">
              <a:noAutofit/>
            </a:bodyPr>
            <a:lstStyle/>
            <a:p>
              <a:pPr indent="0" lvl="0" marL="0" marR="0" rtl="0" algn="ctr">
                <a:lnSpc>
                  <a:spcPct val="123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32" name="Google Shape;132;p19"/>
          <p:cNvSpPr txBox="1"/>
          <p:nvPr/>
        </p:nvSpPr>
        <p:spPr>
          <a:xfrm>
            <a:off x="286075" y="249700"/>
            <a:ext cx="7311300" cy="556500"/>
          </a:xfrm>
          <a:prstGeom prst="rect">
            <a:avLst/>
          </a:prstGeom>
          <a:noFill/>
          <a:ln>
            <a:noFill/>
          </a:ln>
        </p:spPr>
        <p:txBody>
          <a:bodyPr anchorCtr="0" anchor="t" bIns="0" lIns="0" spcFirstLastPara="1" rIns="0" wrap="square" tIns="0">
            <a:spAutoFit/>
          </a:bodyPr>
          <a:lstStyle/>
          <a:p>
            <a:pPr indent="0" lvl="0" marL="0" rtl="0" algn="l">
              <a:lnSpc>
                <a:spcPct val="140011"/>
              </a:lnSpc>
              <a:spcBef>
                <a:spcPts val="0"/>
              </a:spcBef>
              <a:spcAft>
                <a:spcPts val="0"/>
              </a:spcAft>
              <a:buClr>
                <a:srgbClr val="000000"/>
              </a:buClr>
              <a:buFont typeface="Arial"/>
              <a:buNone/>
            </a:pPr>
            <a:r>
              <a:t/>
            </a:r>
            <a:endParaRPr sz="100"/>
          </a:p>
          <a:p>
            <a:pPr indent="0" lvl="0" marL="0" marR="0" rtl="0" algn="l">
              <a:lnSpc>
                <a:spcPct val="140011"/>
              </a:lnSpc>
              <a:spcBef>
                <a:spcPts val="0"/>
              </a:spcBef>
              <a:spcAft>
                <a:spcPts val="0"/>
              </a:spcAft>
              <a:buClr>
                <a:srgbClr val="000000"/>
              </a:buClr>
              <a:buFont typeface="Arial"/>
              <a:buNone/>
            </a:pPr>
            <a:r>
              <a:rPr lang="fr" sz="3300">
                <a:solidFill>
                  <a:srgbClr val="FFFFFF"/>
                </a:solidFill>
              </a:rPr>
              <a:t>RÈGLES</a:t>
            </a:r>
            <a:r>
              <a:rPr lang="fr" sz="3300">
                <a:solidFill>
                  <a:srgbClr val="FFFFFF"/>
                </a:solidFill>
              </a:rPr>
              <a:t> DE PASSAGE</a:t>
            </a:r>
            <a:endParaRPr sz="100"/>
          </a:p>
        </p:txBody>
      </p:sp>
      <p:sp>
        <p:nvSpPr>
          <p:cNvPr id="133" name="Google Shape;133;p19"/>
          <p:cNvSpPr txBox="1"/>
          <p:nvPr/>
        </p:nvSpPr>
        <p:spPr>
          <a:xfrm>
            <a:off x="8816921" y="4862802"/>
            <a:ext cx="258300" cy="1848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lang="fr" sz="1200">
                <a:solidFill>
                  <a:srgbClr val="FFFFFF"/>
                </a:solidFill>
              </a:rPr>
              <a:t>07</a:t>
            </a:r>
            <a:endParaRPr sz="1200"/>
          </a:p>
        </p:txBody>
      </p:sp>
      <p:sp>
        <p:nvSpPr>
          <p:cNvPr id="134" name="Google Shape;134;p19"/>
          <p:cNvSpPr/>
          <p:nvPr/>
        </p:nvSpPr>
        <p:spPr>
          <a:xfrm>
            <a:off x="82600" y="982100"/>
            <a:ext cx="8857200" cy="353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9"/>
          <p:cNvSpPr txBox="1"/>
          <p:nvPr/>
        </p:nvSpPr>
        <p:spPr>
          <a:xfrm>
            <a:off x="341100" y="926575"/>
            <a:ext cx="8220000" cy="406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sz="1700">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fr">
                <a:solidFill>
                  <a:schemeClr val="accent1"/>
                </a:solidFill>
              </a:rPr>
              <a:t>Categorie(0,n) ← Produit(1,1)</a:t>
            </a:r>
            <a:endParaRPr>
              <a:solidFill>
                <a:schemeClr val="accent1"/>
              </a:solidFill>
            </a:endParaRPr>
          </a:p>
          <a:p>
            <a:pPr indent="0" lvl="0" marL="0" rtl="0" algn="l">
              <a:lnSpc>
                <a:spcPct val="115000"/>
              </a:lnSpc>
              <a:spcBef>
                <a:spcPts val="1200"/>
              </a:spcBef>
              <a:spcAft>
                <a:spcPts val="0"/>
              </a:spcAft>
              <a:buNone/>
            </a:pPr>
            <a:r>
              <a:rPr lang="fr">
                <a:solidFill>
                  <a:schemeClr val="dk1"/>
                </a:solidFill>
              </a:rPr>
              <a:t>→ Table produit reçoit id_categorie comme FK pointant vers categorie.id_categorie</a:t>
            </a:r>
            <a:endParaRPr>
              <a:solidFill>
                <a:schemeClr val="dk1"/>
              </a:solidFill>
            </a:endParaRPr>
          </a:p>
          <a:p>
            <a:pPr indent="0" lvl="0" marL="0" rtl="0" algn="l">
              <a:lnSpc>
                <a:spcPct val="115000"/>
              </a:lnSpc>
              <a:spcBef>
                <a:spcPts val="1200"/>
              </a:spcBef>
              <a:spcAft>
                <a:spcPts val="0"/>
              </a:spcAft>
              <a:buNone/>
            </a:pPr>
            <a:r>
              <a:rPr lang="fr">
                <a:solidFill>
                  <a:schemeClr val="accent1"/>
                </a:solidFill>
              </a:rPr>
              <a:t>Produit(0,n) ← Mouvement(1,1)</a:t>
            </a:r>
            <a:endParaRPr>
              <a:solidFill>
                <a:schemeClr val="accent1"/>
              </a:solidFill>
            </a:endParaRPr>
          </a:p>
          <a:p>
            <a:pPr indent="0" lvl="0" marL="0" rtl="0" algn="l">
              <a:lnSpc>
                <a:spcPct val="115000"/>
              </a:lnSpc>
              <a:spcBef>
                <a:spcPts val="1200"/>
              </a:spcBef>
              <a:spcAft>
                <a:spcPts val="0"/>
              </a:spcAft>
              <a:buNone/>
            </a:pPr>
            <a:r>
              <a:rPr lang="fr">
                <a:solidFill>
                  <a:schemeClr val="dk1"/>
                </a:solidFill>
              </a:rPr>
              <a:t>→ Table mouvement reçoit id_produit comme FK pointant vers produit.id_produit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25EC5"/>
            </a:gs>
            <a:gs pos="100000">
              <a:srgbClr val="000000"/>
            </a:gs>
          </a:gsLst>
          <a:lin ang="0" scaled="0"/>
        </a:gradFill>
      </p:bgPr>
    </p:bg>
    <p:spTree>
      <p:nvGrpSpPr>
        <p:cNvPr id="139" name="Shape 139"/>
        <p:cNvGrpSpPr/>
        <p:nvPr/>
      </p:nvGrpSpPr>
      <p:grpSpPr>
        <a:xfrm>
          <a:off x="0" y="0"/>
          <a:ext cx="0" cy="0"/>
          <a:chOff x="0" y="0"/>
          <a:chExt cx="0" cy="0"/>
        </a:xfrm>
      </p:grpSpPr>
      <p:sp>
        <p:nvSpPr>
          <p:cNvPr id="140" name="Google Shape;140;p20"/>
          <p:cNvSpPr/>
          <p:nvPr/>
        </p:nvSpPr>
        <p:spPr>
          <a:xfrm>
            <a:off x="2514600" y="514350"/>
            <a:ext cx="4114800" cy="4114800"/>
          </a:xfrm>
          <a:custGeom>
            <a:rect b="b" l="l" r="r" t="t"/>
            <a:pathLst>
              <a:path extrusionOk="0" h="8229600" w="8229600">
                <a:moveTo>
                  <a:pt x="0" y="0"/>
                </a:moveTo>
                <a:lnTo>
                  <a:pt x="8229600" y="0"/>
                </a:lnTo>
                <a:lnTo>
                  <a:pt x="8229600" y="8229600"/>
                </a:lnTo>
                <a:lnTo>
                  <a:pt x="0" y="8229600"/>
                </a:lnTo>
                <a:lnTo>
                  <a:pt x="0" y="0"/>
                </a:lnTo>
                <a:close/>
              </a:path>
            </a:pathLst>
          </a:custGeom>
          <a:blipFill rotWithShape="1">
            <a:blip r:embed="rId3">
              <a:alphaModFix amt="18000"/>
            </a:blip>
            <a:stretch>
              <a:fillRect b="0" l="0" r="0" t="0"/>
            </a:stretch>
          </a:blipFill>
          <a:ln>
            <a:noFill/>
          </a:ln>
        </p:spPr>
      </p:sp>
      <p:grpSp>
        <p:nvGrpSpPr>
          <p:cNvPr id="141" name="Google Shape;141;p20"/>
          <p:cNvGrpSpPr/>
          <p:nvPr/>
        </p:nvGrpSpPr>
        <p:grpSpPr>
          <a:xfrm>
            <a:off x="8748156" y="4657244"/>
            <a:ext cx="395837" cy="486370"/>
            <a:chOff x="0" y="-47625"/>
            <a:chExt cx="208511" cy="256200"/>
          </a:xfrm>
        </p:grpSpPr>
        <p:sp>
          <p:nvSpPr>
            <p:cNvPr id="142" name="Google Shape;142;p20"/>
            <p:cNvSpPr/>
            <p:nvPr/>
          </p:nvSpPr>
          <p:spPr>
            <a:xfrm>
              <a:off x="0" y="0"/>
              <a:ext cx="208511" cy="208511"/>
            </a:xfrm>
            <a:custGeom>
              <a:rect b="b" l="l" r="r" t="t"/>
              <a:pathLst>
                <a:path extrusionOk="0" h="208511" w="208511">
                  <a:moveTo>
                    <a:pt x="0" y="0"/>
                  </a:moveTo>
                  <a:lnTo>
                    <a:pt x="208511" y="0"/>
                  </a:lnTo>
                  <a:lnTo>
                    <a:pt x="208511" y="208511"/>
                  </a:lnTo>
                  <a:lnTo>
                    <a:pt x="0" y="208511"/>
                  </a:lnTo>
                  <a:close/>
                </a:path>
              </a:pathLst>
            </a:custGeom>
            <a:solidFill>
              <a:srgbClr val="2B52A5"/>
            </a:solidFill>
            <a:ln>
              <a:noFill/>
            </a:ln>
          </p:spPr>
        </p:sp>
        <p:sp>
          <p:nvSpPr>
            <p:cNvPr id="143" name="Google Shape;143;p20"/>
            <p:cNvSpPr txBox="1"/>
            <p:nvPr/>
          </p:nvSpPr>
          <p:spPr>
            <a:xfrm>
              <a:off x="0" y="-47625"/>
              <a:ext cx="208500" cy="256200"/>
            </a:xfrm>
            <a:prstGeom prst="rect">
              <a:avLst/>
            </a:prstGeom>
            <a:noFill/>
            <a:ln>
              <a:noFill/>
            </a:ln>
          </p:spPr>
          <p:txBody>
            <a:bodyPr anchorCtr="0" anchor="ctr" bIns="25400" lIns="25400" spcFirstLastPara="1" rIns="25400" wrap="square" tIns="25400">
              <a:noAutofit/>
            </a:bodyPr>
            <a:lstStyle/>
            <a:p>
              <a:pPr indent="0" lvl="0" marL="0" marR="0" rtl="0" algn="ctr">
                <a:lnSpc>
                  <a:spcPct val="123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44" name="Google Shape;144;p20"/>
          <p:cNvSpPr txBox="1"/>
          <p:nvPr/>
        </p:nvSpPr>
        <p:spPr>
          <a:xfrm>
            <a:off x="286075" y="249700"/>
            <a:ext cx="7311300" cy="556500"/>
          </a:xfrm>
          <a:prstGeom prst="rect">
            <a:avLst/>
          </a:prstGeom>
          <a:noFill/>
          <a:ln>
            <a:noFill/>
          </a:ln>
        </p:spPr>
        <p:txBody>
          <a:bodyPr anchorCtr="0" anchor="t" bIns="0" lIns="0" spcFirstLastPara="1" rIns="0" wrap="square" tIns="0">
            <a:spAutoFit/>
          </a:bodyPr>
          <a:lstStyle/>
          <a:p>
            <a:pPr indent="0" lvl="0" marL="0" rtl="0" algn="l">
              <a:lnSpc>
                <a:spcPct val="140011"/>
              </a:lnSpc>
              <a:spcBef>
                <a:spcPts val="0"/>
              </a:spcBef>
              <a:spcAft>
                <a:spcPts val="0"/>
              </a:spcAft>
              <a:buClr>
                <a:srgbClr val="000000"/>
              </a:buClr>
              <a:buFont typeface="Arial"/>
              <a:buNone/>
            </a:pPr>
            <a:r>
              <a:t/>
            </a:r>
            <a:endParaRPr sz="100"/>
          </a:p>
          <a:p>
            <a:pPr indent="0" lvl="0" marL="0" marR="0" rtl="0" algn="l">
              <a:lnSpc>
                <a:spcPct val="140011"/>
              </a:lnSpc>
              <a:spcBef>
                <a:spcPts val="0"/>
              </a:spcBef>
              <a:spcAft>
                <a:spcPts val="0"/>
              </a:spcAft>
              <a:buClr>
                <a:srgbClr val="000000"/>
              </a:buClr>
              <a:buFont typeface="Arial"/>
              <a:buNone/>
            </a:pPr>
            <a:r>
              <a:rPr lang="fr" sz="3300">
                <a:solidFill>
                  <a:srgbClr val="FFFFFF"/>
                </a:solidFill>
              </a:rPr>
              <a:t>passage MLD MPD</a:t>
            </a:r>
            <a:endParaRPr sz="100"/>
          </a:p>
        </p:txBody>
      </p:sp>
      <p:sp>
        <p:nvSpPr>
          <p:cNvPr id="145" name="Google Shape;145;p20"/>
          <p:cNvSpPr txBox="1"/>
          <p:nvPr/>
        </p:nvSpPr>
        <p:spPr>
          <a:xfrm>
            <a:off x="8816921" y="4862802"/>
            <a:ext cx="258300" cy="1848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fr" sz="1200" u="none" cap="none" strike="noStrike">
                <a:solidFill>
                  <a:srgbClr val="FFFFFF"/>
                </a:solidFill>
                <a:latin typeface="Arial"/>
                <a:ea typeface="Arial"/>
                <a:cs typeface="Arial"/>
                <a:sym typeface="Arial"/>
              </a:rPr>
              <a:t>0</a:t>
            </a:r>
            <a:r>
              <a:rPr lang="fr" sz="1200">
                <a:solidFill>
                  <a:srgbClr val="FFFFFF"/>
                </a:solidFill>
              </a:rPr>
              <a:t>8</a:t>
            </a:r>
            <a:endParaRPr sz="1200"/>
          </a:p>
        </p:txBody>
      </p:sp>
      <p:sp>
        <p:nvSpPr>
          <p:cNvPr id="146" name="Google Shape;146;p20"/>
          <p:cNvSpPr/>
          <p:nvPr/>
        </p:nvSpPr>
        <p:spPr>
          <a:xfrm>
            <a:off x="82600" y="982100"/>
            <a:ext cx="8857200" cy="353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0"/>
          <p:cNvSpPr txBox="1"/>
          <p:nvPr/>
        </p:nvSpPr>
        <p:spPr>
          <a:xfrm>
            <a:off x="341100" y="885425"/>
            <a:ext cx="8407200" cy="425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sz="1700">
              <a:solidFill>
                <a:schemeClr val="dk1"/>
              </a:solidFill>
            </a:endParaRPr>
          </a:p>
          <a:p>
            <a:pPr indent="0" lvl="0" marL="0" rtl="0" algn="l">
              <a:lnSpc>
                <a:spcPct val="115000"/>
              </a:lnSpc>
              <a:spcBef>
                <a:spcPts val="1200"/>
              </a:spcBef>
              <a:spcAft>
                <a:spcPts val="0"/>
              </a:spcAft>
              <a:buNone/>
            </a:pPr>
            <a:r>
              <a:rPr lang="fr" sz="1100">
                <a:solidFill>
                  <a:schemeClr val="accent1"/>
                </a:solidFill>
              </a:rPr>
              <a:t>categories(</a:t>
            </a:r>
            <a:endParaRPr sz="1100">
              <a:solidFill>
                <a:schemeClr val="accent1"/>
              </a:solidFill>
            </a:endParaRPr>
          </a:p>
          <a:p>
            <a:pPr indent="0" lvl="0" marL="0" rtl="0" algn="l">
              <a:lnSpc>
                <a:spcPct val="115000"/>
              </a:lnSpc>
              <a:spcBef>
                <a:spcPts val="1200"/>
              </a:spcBef>
              <a:spcAft>
                <a:spcPts val="0"/>
              </a:spcAft>
              <a:buNone/>
            </a:pPr>
            <a:r>
              <a:rPr lang="fr" sz="1100">
                <a:solidFill>
                  <a:schemeClr val="dk1"/>
                </a:solidFill>
              </a:rPr>
              <a:t>    id_categorie INT PRIMARY KEY AUTO_INCREMENT,</a:t>
            </a:r>
            <a:endParaRPr sz="1100">
              <a:solidFill>
                <a:schemeClr val="dk1"/>
              </a:solidFill>
            </a:endParaRPr>
          </a:p>
          <a:p>
            <a:pPr indent="0" lvl="0" marL="0" rtl="0" algn="l">
              <a:lnSpc>
                <a:spcPct val="115000"/>
              </a:lnSpc>
              <a:spcBef>
                <a:spcPts val="1200"/>
              </a:spcBef>
              <a:spcAft>
                <a:spcPts val="0"/>
              </a:spcAft>
              <a:buNone/>
            </a:pPr>
            <a:r>
              <a:rPr lang="fr" sz="1100">
                <a:solidFill>
                  <a:schemeClr val="dk1"/>
                </a:solidFill>
              </a:rPr>
              <a:t>    nom_categorie VARCHAR(100) NOT NULL UNIQUE</a:t>
            </a:r>
            <a:endParaRPr sz="1100">
              <a:solidFill>
                <a:schemeClr val="dk1"/>
              </a:solidFill>
            </a:endParaRPr>
          </a:p>
          <a:p>
            <a:pPr indent="0" lvl="0" marL="0" rtl="0" algn="l">
              <a:lnSpc>
                <a:spcPct val="115000"/>
              </a:lnSpc>
              <a:spcBef>
                <a:spcPts val="1200"/>
              </a:spcBef>
              <a:spcAft>
                <a:spcPts val="0"/>
              </a:spcAft>
              <a:buNone/>
            </a:pPr>
            <a:r>
              <a:rPr lang="fr" sz="1100">
                <a:solidFill>
                  <a:schemeClr val="accent1"/>
                </a:solidFill>
              </a:rPr>
              <a:t>)</a:t>
            </a:r>
            <a:endParaRPr sz="1100">
              <a:solidFill>
                <a:schemeClr val="accent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25EC5"/>
            </a:gs>
            <a:gs pos="100000">
              <a:srgbClr val="000000"/>
            </a:gs>
          </a:gsLst>
          <a:lin ang="0" scaled="0"/>
        </a:gradFill>
      </p:bgPr>
    </p:bg>
    <p:spTree>
      <p:nvGrpSpPr>
        <p:cNvPr id="151" name="Shape 151"/>
        <p:cNvGrpSpPr/>
        <p:nvPr/>
      </p:nvGrpSpPr>
      <p:grpSpPr>
        <a:xfrm>
          <a:off x="0" y="0"/>
          <a:ext cx="0" cy="0"/>
          <a:chOff x="0" y="0"/>
          <a:chExt cx="0" cy="0"/>
        </a:xfrm>
      </p:grpSpPr>
      <p:sp>
        <p:nvSpPr>
          <p:cNvPr id="152" name="Google Shape;152;p21"/>
          <p:cNvSpPr/>
          <p:nvPr/>
        </p:nvSpPr>
        <p:spPr>
          <a:xfrm>
            <a:off x="2514600" y="514350"/>
            <a:ext cx="4114800" cy="4114800"/>
          </a:xfrm>
          <a:custGeom>
            <a:rect b="b" l="l" r="r" t="t"/>
            <a:pathLst>
              <a:path extrusionOk="0" h="8229600" w="8229600">
                <a:moveTo>
                  <a:pt x="0" y="0"/>
                </a:moveTo>
                <a:lnTo>
                  <a:pt x="8229600" y="0"/>
                </a:lnTo>
                <a:lnTo>
                  <a:pt x="8229600" y="8229600"/>
                </a:lnTo>
                <a:lnTo>
                  <a:pt x="0" y="8229600"/>
                </a:lnTo>
                <a:lnTo>
                  <a:pt x="0" y="0"/>
                </a:lnTo>
                <a:close/>
              </a:path>
            </a:pathLst>
          </a:custGeom>
          <a:blipFill rotWithShape="1">
            <a:blip r:embed="rId3">
              <a:alphaModFix amt="18000"/>
            </a:blip>
            <a:stretch>
              <a:fillRect b="0" l="0" r="0" t="0"/>
            </a:stretch>
          </a:blipFill>
          <a:ln>
            <a:noFill/>
          </a:ln>
        </p:spPr>
      </p:sp>
      <p:grpSp>
        <p:nvGrpSpPr>
          <p:cNvPr id="153" name="Google Shape;153;p21"/>
          <p:cNvGrpSpPr/>
          <p:nvPr/>
        </p:nvGrpSpPr>
        <p:grpSpPr>
          <a:xfrm>
            <a:off x="8748156" y="4657244"/>
            <a:ext cx="395837" cy="486370"/>
            <a:chOff x="0" y="-47625"/>
            <a:chExt cx="208511" cy="256200"/>
          </a:xfrm>
        </p:grpSpPr>
        <p:sp>
          <p:nvSpPr>
            <p:cNvPr id="154" name="Google Shape;154;p21"/>
            <p:cNvSpPr/>
            <p:nvPr/>
          </p:nvSpPr>
          <p:spPr>
            <a:xfrm>
              <a:off x="0" y="0"/>
              <a:ext cx="208511" cy="208511"/>
            </a:xfrm>
            <a:custGeom>
              <a:rect b="b" l="l" r="r" t="t"/>
              <a:pathLst>
                <a:path extrusionOk="0" h="208511" w="208511">
                  <a:moveTo>
                    <a:pt x="0" y="0"/>
                  </a:moveTo>
                  <a:lnTo>
                    <a:pt x="208511" y="0"/>
                  </a:lnTo>
                  <a:lnTo>
                    <a:pt x="208511" y="208511"/>
                  </a:lnTo>
                  <a:lnTo>
                    <a:pt x="0" y="208511"/>
                  </a:lnTo>
                  <a:close/>
                </a:path>
              </a:pathLst>
            </a:custGeom>
            <a:solidFill>
              <a:srgbClr val="2B52A5"/>
            </a:solidFill>
            <a:ln>
              <a:noFill/>
            </a:ln>
          </p:spPr>
        </p:sp>
        <p:sp>
          <p:nvSpPr>
            <p:cNvPr id="155" name="Google Shape;155;p21"/>
            <p:cNvSpPr txBox="1"/>
            <p:nvPr/>
          </p:nvSpPr>
          <p:spPr>
            <a:xfrm>
              <a:off x="0" y="-47625"/>
              <a:ext cx="208500" cy="256200"/>
            </a:xfrm>
            <a:prstGeom prst="rect">
              <a:avLst/>
            </a:prstGeom>
            <a:noFill/>
            <a:ln>
              <a:noFill/>
            </a:ln>
          </p:spPr>
          <p:txBody>
            <a:bodyPr anchorCtr="0" anchor="ctr" bIns="25400" lIns="25400" spcFirstLastPara="1" rIns="25400" wrap="square" tIns="25400">
              <a:noAutofit/>
            </a:bodyPr>
            <a:lstStyle/>
            <a:p>
              <a:pPr indent="0" lvl="0" marL="0" marR="0" rtl="0" algn="ctr">
                <a:lnSpc>
                  <a:spcPct val="123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6" name="Google Shape;156;p21"/>
          <p:cNvSpPr txBox="1"/>
          <p:nvPr/>
        </p:nvSpPr>
        <p:spPr>
          <a:xfrm>
            <a:off x="286075" y="249700"/>
            <a:ext cx="7311300" cy="556500"/>
          </a:xfrm>
          <a:prstGeom prst="rect">
            <a:avLst/>
          </a:prstGeom>
          <a:noFill/>
          <a:ln>
            <a:noFill/>
          </a:ln>
        </p:spPr>
        <p:txBody>
          <a:bodyPr anchorCtr="0" anchor="t" bIns="0" lIns="0" spcFirstLastPara="1" rIns="0" wrap="square" tIns="0">
            <a:spAutoFit/>
          </a:bodyPr>
          <a:lstStyle/>
          <a:p>
            <a:pPr indent="0" lvl="0" marL="0" rtl="0" algn="l">
              <a:lnSpc>
                <a:spcPct val="140011"/>
              </a:lnSpc>
              <a:spcBef>
                <a:spcPts val="0"/>
              </a:spcBef>
              <a:spcAft>
                <a:spcPts val="0"/>
              </a:spcAft>
              <a:buClr>
                <a:srgbClr val="000000"/>
              </a:buClr>
              <a:buFont typeface="Arial"/>
              <a:buNone/>
            </a:pPr>
            <a:r>
              <a:t/>
            </a:r>
            <a:endParaRPr sz="100"/>
          </a:p>
          <a:p>
            <a:pPr indent="0" lvl="0" marL="0" marR="0" rtl="0" algn="l">
              <a:lnSpc>
                <a:spcPct val="140011"/>
              </a:lnSpc>
              <a:spcBef>
                <a:spcPts val="0"/>
              </a:spcBef>
              <a:spcAft>
                <a:spcPts val="0"/>
              </a:spcAft>
              <a:buClr>
                <a:srgbClr val="000000"/>
              </a:buClr>
              <a:buFont typeface="Arial"/>
              <a:buNone/>
            </a:pPr>
            <a:r>
              <a:rPr lang="fr" sz="3300">
                <a:solidFill>
                  <a:srgbClr val="FFFFFF"/>
                </a:solidFill>
              </a:rPr>
              <a:t>RÈGLES DE PASSAGE</a:t>
            </a:r>
            <a:endParaRPr sz="100"/>
          </a:p>
        </p:txBody>
      </p:sp>
      <p:sp>
        <p:nvSpPr>
          <p:cNvPr id="157" name="Google Shape;157;p21"/>
          <p:cNvSpPr txBox="1"/>
          <p:nvPr/>
        </p:nvSpPr>
        <p:spPr>
          <a:xfrm>
            <a:off x="8816921" y="4862802"/>
            <a:ext cx="258300" cy="1848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fr" sz="1200" u="none" cap="none" strike="noStrike">
                <a:solidFill>
                  <a:srgbClr val="FFFFFF"/>
                </a:solidFill>
                <a:latin typeface="Arial"/>
                <a:ea typeface="Arial"/>
                <a:cs typeface="Arial"/>
                <a:sym typeface="Arial"/>
              </a:rPr>
              <a:t>0</a:t>
            </a:r>
            <a:r>
              <a:rPr lang="fr" sz="1200">
                <a:solidFill>
                  <a:srgbClr val="FFFFFF"/>
                </a:solidFill>
              </a:rPr>
              <a:t>9</a:t>
            </a:r>
            <a:endParaRPr sz="1200"/>
          </a:p>
        </p:txBody>
      </p:sp>
      <p:sp>
        <p:nvSpPr>
          <p:cNvPr id="158" name="Google Shape;158;p21"/>
          <p:cNvSpPr/>
          <p:nvPr/>
        </p:nvSpPr>
        <p:spPr>
          <a:xfrm>
            <a:off x="82600" y="982100"/>
            <a:ext cx="8857200" cy="4001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1"/>
          <p:cNvSpPr txBox="1"/>
          <p:nvPr/>
        </p:nvSpPr>
        <p:spPr>
          <a:xfrm>
            <a:off x="239400" y="806200"/>
            <a:ext cx="8665200" cy="680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sz="1700">
              <a:solidFill>
                <a:schemeClr val="dk1"/>
              </a:solidFill>
            </a:endParaRPr>
          </a:p>
          <a:p>
            <a:pPr indent="0" lvl="0" marL="0" rtl="0" algn="l">
              <a:lnSpc>
                <a:spcPct val="115000"/>
              </a:lnSpc>
              <a:spcBef>
                <a:spcPts val="1200"/>
              </a:spcBef>
              <a:spcAft>
                <a:spcPts val="0"/>
              </a:spcAft>
              <a:buNone/>
            </a:pPr>
            <a:r>
              <a:rPr lang="fr" sz="1100">
                <a:solidFill>
                  <a:schemeClr val="accent1"/>
                </a:solidFill>
              </a:rPr>
              <a:t>produits(</a:t>
            </a:r>
            <a:endParaRPr sz="1100">
              <a:solidFill>
                <a:schemeClr val="accent1"/>
              </a:solidFill>
            </a:endParaRPr>
          </a:p>
          <a:p>
            <a:pPr indent="0" lvl="0" marL="0" rtl="0" algn="l">
              <a:lnSpc>
                <a:spcPct val="115000"/>
              </a:lnSpc>
              <a:spcBef>
                <a:spcPts val="1200"/>
              </a:spcBef>
              <a:spcAft>
                <a:spcPts val="0"/>
              </a:spcAft>
              <a:buNone/>
            </a:pPr>
            <a:r>
              <a:rPr lang="fr" sz="1100">
                <a:solidFill>
                  <a:schemeClr val="dk1"/>
                </a:solidFill>
              </a:rPr>
              <a:t>    id_produit INT PRIMARY KEY AUTO_INCREMENT,</a:t>
            </a:r>
            <a:endParaRPr sz="1100">
              <a:solidFill>
                <a:schemeClr val="dk1"/>
              </a:solidFill>
            </a:endParaRPr>
          </a:p>
          <a:p>
            <a:pPr indent="0" lvl="0" marL="0" rtl="0" algn="l">
              <a:lnSpc>
                <a:spcPct val="115000"/>
              </a:lnSpc>
              <a:spcBef>
                <a:spcPts val="1200"/>
              </a:spcBef>
              <a:spcAft>
                <a:spcPts val="0"/>
              </a:spcAft>
              <a:buNone/>
            </a:pPr>
            <a:r>
              <a:rPr lang="fr" sz="1100">
                <a:solidFill>
                  <a:schemeClr val="dk1"/>
                </a:solidFill>
              </a:rPr>
              <a:t>    designation_produit VARCHAR(150) NOT NULL,</a:t>
            </a:r>
            <a:endParaRPr sz="1100">
              <a:solidFill>
                <a:schemeClr val="dk1"/>
              </a:solidFill>
            </a:endParaRPr>
          </a:p>
          <a:p>
            <a:pPr indent="0" lvl="0" marL="0" rtl="0" algn="l">
              <a:lnSpc>
                <a:spcPct val="115000"/>
              </a:lnSpc>
              <a:spcBef>
                <a:spcPts val="1200"/>
              </a:spcBef>
              <a:spcAft>
                <a:spcPts val="0"/>
              </a:spcAft>
              <a:buNone/>
            </a:pPr>
            <a:r>
              <a:rPr lang="fr" sz="1100">
                <a:solidFill>
                  <a:schemeClr val="dk1"/>
                </a:solidFill>
              </a:rPr>
              <a:t>    prix_produit DECIMAL(10,2),</a:t>
            </a:r>
            <a:endParaRPr sz="1100">
              <a:solidFill>
                <a:schemeClr val="dk1"/>
              </a:solidFill>
            </a:endParaRPr>
          </a:p>
          <a:p>
            <a:pPr indent="0" lvl="0" marL="0" rtl="0" algn="l">
              <a:lnSpc>
                <a:spcPct val="115000"/>
              </a:lnSpc>
              <a:spcBef>
                <a:spcPts val="1200"/>
              </a:spcBef>
              <a:spcAft>
                <a:spcPts val="0"/>
              </a:spcAft>
              <a:buNone/>
            </a:pPr>
            <a:r>
              <a:rPr lang="fr" sz="1100">
                <a:solidFill>
                  <a:schemeClr val="dk1"/>
                </a:solidFill>
              </a:rPr>
              <a:t>    stock INT DEFAULT 0,</a:t>
            </a:r>
            <a:endParaRPr sz="1100">
              <a:solidFill>
                <a:schemeClr val="dk1"/>
              </a:solidFill>
            </a:endParaRPr>
          </a:p>
          <a:p>
            <a:pPr indent="0" lvl="0" marL="0" rtl="0" algn="l">
              <a:lnSpc>
                <a:spcPct val="115000"/>
              </a:lnSpc>
              <a:spcBef>
                <a:spcPts val="1200"/>
              </a:spcBef>
              <a:spcAft>
                <a:spcPts val="0"/>
              </a:spcAft>
              <a:buNone/>
            </a:pPr>
            <a:r>
              <a:rPr lang="fr" sz="1100">
                <a:solidFill>
                  <a:schemeClr val="dk1"/>
                </a:solidFill>
              </a:rPr>
              <a:t>    disponible BOOLEAN DEFAULT TRUE,</a:t>
            </a:r>
            <a:endParaRPr sz="1100">
              <a:solidFill>
                <a:schemeClr val="dk1"/>
              </a:solidFill>
            </a:endParaRPr>
          </a:p>
          <a:p>
            <a:pPr indent="0" lvl="0" marL="0" rtl="0" algn="l">
              <a:lnSpc>
                <a:spcPct val="115000"/>
              </a:lnSpc>
              <a:spcBef>
                <a:spcPts val="1200"/>
              </a:spcBef>
              <a:spcAft>
                <a:spcPts val="0"/>
              </a:spcAft>
              <a:buNone/>
            </a:pPr>
            <a:r>
              <a:rPr lang="fr" sz="1100">
                <a:solidFill>
                  <a:schemeClr val="dk1"/>
                </a:solidFill>
              </a:rPr>
              <a:t>    id_categorie INT NOT NULL,</a:t>
            </a:r>
            <a:endParaRPr sz="1100">
              <a:solidFill>
                <a:schemeClr val="dk1"/>
              </a:solidFill>
            </a:endParaRPr>
          </a:p>
          <a:p>
            <a:pPr indent="0" lvl="0" marL="0" rtl="0" algn="l">
              <a:lnSpc>
                <a:spcPct val="115000"/>
              </a:lnSpc>
              <a:spcBef>
                <a:spcPts val="1200"/>
              </a:spcBef>
              <a:spcAft>
                <a:spcPts val="0"/>
              </a:spcAft>
              <a:buNone/>
            </a:pPr>
            <a:r>
              <a:rPr lang="fr" sz="1100">
                <a:solidFill>
                  <a:schemeClr val="dk1"/>
                </a:solidFill>
              </a:rPr>
              <a:t>    FOREIGN KEY (id_categorie) REFERENCES categories(id_categorie)</a:t>
            </a:r>
            <a:endParaRPr sz="1100">
              <a:solidFill>
                <a:schemeClr val="dk1"/>
              </a:solidFill>
            </a:endParaRPr>
          </a:p>
          <a:p>
            <a:pPr indent="0" lvl="0" marL="0" rtl="0" algn="l">
              <a:lnSpc>
                <a:spcPct val="115000"/>
              </a:lnSpc>
              <a:spcBef>
                <a:spcPts val="1200"/>
              </a:spcBef>
              <a:spcAft>
                <a:spcPts val="0"/>
              </a:spcAft>
              <a:buNone/>
            </a:pPr>
            <a:r>
              <a:rPr lang="fr" sz="1100">
                <a:solidFill>
                  <a:schemeClr val="accent1"/>
                </a:solidFill>
              </a:rPr>
              <a:t>)</a:t>
            </a:r>
            <a:endParaRPr sz="1100">
              <a:solidFill>
                <a:schemeClr val="accent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25EC5"/>
            </a:gs>
            <a:gs pos="100000">
              <a:srgbClr val="000000"/>
            </a:gs>
          </a:gsLst>
          <a:lin ang="0" scaled="0"/>
        </a:gradFill>
      </p:bgPr>
    </p:bg>
    <p:spTree>
      <p:nvGrpSpPr>
        <p:cNvPr id="163" name="Shape 163"/>
        <p:cNvGrpSpPr/>
        <p:nvPr/>
      </p:nvGrpSpPr>
      <p:grpSpPr>
        <a:xfrm>
          <a:off x="0" y="0"/>
          <a:ext cx="0" cy="0"/>
          <a:chOff x="0" y="0"/>
          <a:chExt cx="0" cy="0"/>
        </a:xfrm>
      </p:grpSpPr>
      <p:sp>
        <p:nvSpPr>
          <p:cNvPr id="164" name="Google Shape;164;p22"/>
          <p:cNvSpPr/>
          <p:nvPr/>
        </p:nvSpPr>
        <p:spPr>
          <a:xfrm>
            <a:off x="2514600" y="514350"/>
            <a:ext cx="4114800" cy="4114800"/>
          </a:xfrm>
          <a:custGeom>
            <a:rect b="b" l="l" r="r" t="t"/>
            <a:pathLst>
              <a:path extrusionOk="0" h="8229600" w="8229600">
                <a:moveTo>
                  <a:pt x="0" y="0"/>
                </a:moveTo>
                <a:lnTo>
                  <a:pt x="8229600" y="0"/>
                </a:lnTo>
                <a:lnTo>
                  <a:pt x="8229600" y="8229600"/>
                </a:lnTo>
                <a:lnTo>
                  <a:pt x="0" y="8229600"/>
                </a:lnTo>
                <a:lnTo>
                  <a:pt x="0" y="0"/>
                </a:lnTo>
                <a:close/>
              </a:path>
            </a:pathLst>
          </a:custGeom>
          <a:blipFill rotWithShape="1">
            <a:blip r:embed="rId3">
              <a:alphaModFix amt="18000"/>
            </a:blip>
            <a:stretch>
              <a:fillRect b="0" l="0" r="0" t="0"/>
            </a:stretch>
          </a:blipFill>
          <a:ln>
            <a:noFill/>
          </a:ln>
        </p:spPr>
      </p:sp>
      <p:grpSp>
        <p:nvGrpSpPr>
          <p:cNvPr id="165" name="Google Shape;165;p22"/>
          <p:cNvGrpSpPr/>
          <p:nvPr/>
        </p:nvGrpSpPr>
        <p:grpSpPr>
          <a:xfrm>
            <a:off x="8748156" y="4657244"/>
            <a:ext cx="395837" cy="486370"/>
            <a:chOff x="0" y="-47625"/>
            <a:chExt cx="208511" cy="256200"/>
          </a:xfrm>
        </p:grpSpPr>
        <p:sp>
          <p:nvSpPr>
            <p:cNvPr id="166" name="Google Shape;166;p22"/>
            <p:cNvSpPr/>
            <p:nvPr/>
          </p:nvSpPr>
          <p:spPr>
            <a:xfrm>
              <a:off x="0" y="0"/>
              <a:ext cx="208511" cy="208511"/>
            </a:xfrm>
            <a:custGeom>
              <a:rect b="b" l="l" r="r" t="t"/>
              <a:pathLst>
                <a:path extrusionOk="0" h="208511" w="208511">
                  <a:moveTo>
                    <a:pt x="0" y="0"/>
                  </a:moveTo>
                  <a:lnTo>
                    <a:pt x="208511" y="0"/>
                  </a:lnTo>
                  <a:lnTo>
                    <a:pt x="208511" y="208511"/>
                  </a:lnTo>
                  <a:lnTo>
                    <a:pt x="0" y="208511"/>
                  </a:lnTo>
                  <a:close/>
                </a:path>
              </a:pathLst>
            </a:custGeom>
            <a:solidFill>
              <a:srgbClr val="2B52A5"/>
            </a:solidFill>
            <a:ln>
              <a:noFill/>
            </a:ln>
          </p:spPr>
        </p:sp>
        <p:sp>
          <p:nvSpPr>
            <p:cNvPr id="167" name="Google Shape;167;p22"/>
            <p:cNvSpPr txBox="1"/>
            <p:nvPr/>
          </p:nvSpPr>
          <p:spPr>
            <a:xfrm>
              <a:off x="0" y="-47625"/>
              <a:ext cx="208500" cy="256200"/>
            </a:xfrm>
            <a:prstGeom prst="rect">
              <a:avLst/>
            </a:prstGeom>
            <a:noFill/>
            <a:ln>
              <a:noFill/>
            </a:ln>
          </p:spPr>
          <p:txBody>
            <a:bodyPr anchorCtr="0" anchor="ctr" bIns="25400" lIns="25400" spcFirstLastPara="1" rIns="25400" wrap="square" tIns="25400">
              <a:noAutofit/>
            </a:bodyPr>
            <a:lstStyle/>
            <a:p>
              <a:pPr indent="0" lvl="0" marL="0" marR="0" rtl="0" algn="ctr">
                <a:lnSpc>
                  <a:spcPct val="123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68" name="Google Shape;168;p22"/>
          <p:cNvSpPr txBox="1"/>
          <p:nvPr/>
        </p:nvSpPr>
        <p:spPr>
          <a:xfrm>
            <a:off x="286075" y="249700"/>
            <a:ext cx="7311300" cy="556500"/>
          </a:xfrm>
          <a:prstGeom prst="rect">
            <a:avLst/>
          </a:prstGeom>
          <a:noFill/>
          <a:ln>
            <a:noFill/>
          </a:ln>
        </p:spPr>
        <p:txBody>
          <a:bodyPr anchorCtr="0" anchor="t" bIns="0" lIns="0" spcFirstLastPara="1" rIns="0" wrap="square" tIns="0">
            <a:spAutoFit/>
          </a:bodyPr>
          <a:lstStyle/>
          <a:p>
            <a:pPr indent="0" lvl="0" marL="0" rtl="0" algn="l">
              <a:lnSpc>
                <a:spcPct val="140011"/>
              </a:lnSpc>
              <a:spcBef>
                <a:spcPts val="0"/>
              </a:spcBef>
              <a:spcAft>
                <a:spcPts val="0"/>
              </a:spcAft>
              <a:buClr>
                <a:srgbClr val="000000"/>
              </a:buClr>
              <a:buFont typeface="Arial"/>
              <a:buNone/>
            </a:pPr>
            <a:r>
              <a:t/>
            </a:r>
            <a:endParaRPr sz="100"/>
          </a:p>
          <a:p>
            <a:pPr indent="0" lvl="0" marL="0" marR="0" rtl="0" algn="l">
              <a:lnSpc>
                <a:spcPct val="140011"/>
              </a:lnSpc>
              <a:spcBef>
                <a:spcPts val="0"/>
              </a:spcBef>
              <a:spcAft>
                <a:spcPts val="0"/>
              </a:spcAft>
              <a:buClr>
                <a:srgbClr val="000000"/>
              </a:buClr>
              <a:buFont typeface="Arial"/>
              <a:buNone/>
            </a:pPr>
            <a:r>
              <a:rPr lang="fr" sz="3300">
                <a:solidFill>
                  <a:srgbClr val="FFFFFF"/>
                </a:solidFill>
              </a:rPr>
              <a:t>RÈGLES DE PASSAGE</a:t>
            </a:r>
            <a:endParaRPr sz="100"/>
          </a:p>
        </p:txBody>
      </p:sp>
      <p:sp>
        <p:nvSpPr>
          <p:cNvPr id="169" name="Google Shape;169;p22"/>
          <p:cNvSpPr txBox="1"/>
          <p:nvPr/>
        </p:nvSpPr>
        <p:spPr>
          <a:xfrm>
            <a:off x="8816921" y="4862802"/>
            <a:ext cx="258300" cy="1848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fr" sz="1200" u="none" cap="none" strike="noStrike">
                <a:solidFill>
                  <a:srgbClr val="FFFFFF"/>
                </a:solidFill>
                <a:latin typeface="Arial"/>
                <a:ea typeface="Arial"/>
                <a:cs typeface="Arial"/>
                <a:sym typeface="Arial"/>
              </a:rPr>
              <a:t>01</a:t>
            </a:r>
            <a:endParaRPr sz="1200"/>
          </a:p>
        </p:txBody>
      </p:sp>
      <p:sp>
        <p:nvSpPr>
          <p:cNvPr id="170" name="Google Shape;170;p22"/>
          <p:cNvSpPr/>
          <p:nvPr/>
        </p:nvSpPr>
        <p:spPr>
          <a:xfrm>
            <a:off x="82600" y="982100"/>
            <a:ext cx="8857200" cy="353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2"/>
          <p:cNvSpPr txBox="1"/>
          <p:nvPr/>
        </p:nvSpPr>
        <p:spPr>
          <a:xfrm>
            <a:off x="754125" y="1160625"/>
            <a:ext cx="8665200" cy="43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fr" sz="1100">
                <a:solidFill>
                  <a:schemeClr val="accent1"/>
                </a:solidFill>
              </a:rPr>
              <a:t>mouvements(</a:t>
            </a:r>
            <a:endParaRPr sz="1100">
              <a:solidFill>
                <a:schemeClr val="accent1"/>
              </a:solidFill>
            </a:endParaRPr>
          </a:p>
          <a:p>
            <a:pPr indent="0" lvl="0" marL="0" rtl="0" algn="l">
              <a:lnSpc>
                <a:spcPct val="115000"/>
              </a:lnSpc>
              <a:spcBef>
                <a:spcPts val="1200"/>
              </a:spcBef>
              <a:spcAft>
                <a:spcPts val="0"/>
              </a:spcAft>
              <a:buNone/>
            </a:pPr>
            <a:r>
              <a:rPr lang="fr" sz="1100">
                <a:solidFill>
                  <a:schemeClr val="dk1"/>
                </a:solidFill>
              </a:rPr>
              <a:t>    id_mouvement INT PRIMARY KEY AUTO_INCREMENT,</a:t>
            </a:r>
            <a:endParaRPr sz="1100">
              <a:solidFill>
                <a:schemeClr val="dk1"/>
              </a:solidFill>
            </a:endParaRPr>
          </a:p>
          <a:p>
            <a:pPr indent="0" lvl="0" marL="0" rtl="0" algn="l">
              <a:lnSpc>
                <a:spcPct val="115000"/>
              </a:lnSpc>
              <a:spcBef>
                <a:spcPts val="1200"/>
              </a:spcBef>
              <a:spcAft>
                <a:spcPts val="0"/>
              </a:spcAft>
              <a:buNone/>
            </a:pPr>
            <a:r>
              <a:rPr lang="fr" sz="1100">
                <a:solidFill>
                  <a:schemeClr val="dk1"/>
                </a:solidFill>
              </a:rPr>
              <a:t>    id_produit INT NOT NULL,</a:t>
            </a:r>
            <a:endParaRPr sz="1100">
              <a:solidFill>
                <a:schemeClr val="dk1"/>
              </a:solidFill>
            </a:endParaRPr>
          </a:p>
          <a:p>
            <a:pPr indent="0" lvl="0" marL="0" rtl="0" algn="l">
              <a:lnSpc>
                <a:spcPct val="115000"/>
              </a:lnSpc>
              <a:spcBef>
                <a:spcPts val="1200"/>
              </a:spcBef>
              <a:spcAft>
                <a:spcPts val="0"/>
              </a:spcAft>
              <a:buNone/>
            </a:pPr>
            <a:r>
              <a:rPr lang="fr" sz="1100">
                <a:solidFill>
                  <a:schemeClr val="dk1"/>
                </a:solidFill>
              </a:rPr>
              <a:t>    quantite_mouvement INT NOT NULL,</a:t>
            </a:r>
            <a:endParaRPr sz="1100">
              <a:solidFill>
                <a:schemeClr val="dk1"/>
              </a:solidFill>
            </a:endParaRPr>
          </a:p>
          <a:p>
            <a:pPr indent="0" lvl="0" marL="0" rtl="0" algn="l">
              <a:lnSpc>
                <a:spcPct val="115000"/>
              </a:lnSpc>
              <a:spcBef>
                <a:spcPts val="1200"/>
              </a:spcBef>
              <a:spcAft>
                <a:spcPts val="0"/>
              </a:spcAft>
              <a:buNone/>
            </a:pPr>
            <a:r>
              <a:rPr lang="fr" sz="1100">
                <a:solidFill>
                  <a:schemeClr val="dk1"/>
                </a:solidFill>
              </a:rPr>
              <a:t>    type_mouvement ENUM('ENTREE', 'SORTIE') NOT NULL,</a:t>
            </a:r>
            <a:endParaRPr sz="1100">
              <a:solidFill>
                <a:schemeClr val="dk1"/>
              </a:solidFill>
            </a:endParaRPr>
          </a:p>
          <a:p>
            <a:pPr indent="0" lvl="0" marL="0" rtl="0" algn="l">
              <a:lnSpc>
                <a:spcPct val="115000"/>
              </a:lnSpc>
              <a:spcBef>
                <a:spcPts val="1200"/>
              </a:spcBef>
              <a:spcAft>
                <a:spcPts val="0"/>
              </a:spcAft>
              <a:buNone/>
            </a:pPr>
            <a:r>
              <a:rPr lang="fr" sz="1100">
                <a:solidFill>
                  <a:schemeClr val="dk1"/>
                </a:solidFill>
              </a:rPr>
              <a:t>    date_mouvement DATETIME DEFAULT CURRENT_TIMESTAMP,</a:t>
            </a:r>
            <a:endParaRPr sz="1100">
              <a:solidFill>
                <a:schemeClr val="dk1"/>
              </a:solidFill>
            </a:endParaRPr>
          </a:p>
          <a:p>
            <a:pPr indent="0" lvl="0" marL="0" rtl="0" algn="l">
              <a:lnSpc>
                <a:spcPct val="115000"/>
              </a:lnSpc>
              <a:spcBef>
                <a:spcPts val="1200"/>
              </a:spcBef>
              <a:spcAft>
                <a:spcPts val="0"/>
              </a:spcAft>
              <a:buNone/>
            </a:pPr>
            <a:r>
              <a:rPr lang="fr" sz="1100">
                <a:solidFill>
                  <a:schemeClr val="dk1"/>
                </a:solidFill>
              </a:rPr>
              <a:t>    FOREIGN KEY (id_produit) REFERENCES produits(id_produit)</a:t>
            </a:r>
            <a:endParaRPr sz="1100">
              <a:solidFill>
                <a:schemeClr val="dk1"/>
              </a:solidFill>
            </a:endParaRPr>
          </a:p>
          <a:p>
            <a:pPr indent="0" lvl="0" marL="0" rtl="0" algn="l">
              <a:lnSpc>
                <a:spcPct val="115000"/>
              </a:lnSpc>
              <a:spcBef>
                <a:spcPts val="1200"/>
              </a:spcBef>
              <a:spcAft>
                <a:spcPts val="0"/>
              </a:spcAft>
              <a:buNone/>
            </a:pPr>
            <a:r>
              <a:rPr lang="fr" sz="1100">
                <a:solidFill>
                  <a:schemeClr val="accent1"/>
                </a:solidFill>
              </a:rPr>
              <a:t>)</a:t>
            </a:r>
            <a:endParaRPr sz="1100">
              <a:solidFill>
                <a:schemeClr val="accent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25EC5"/>
            </a:gs>
            <a:gs pos="100000">
              <a:srgbClr val="000000"/>
            </a:gs>
          </a:gsLst>
          <a:lin ang="0" scaled="0"/>
        </a:gradFill>
      </p:bgPr>
    </p:bg>
    <p:spTree>
      <p:nvGrpSpPr>
        <p:cNvPr id="175" name="Shape 175"/>
        <p:cNvGrpSpPr/>
        <p:nvPr/>
      </p:nvGrpSpPr>
      <p:grpSpPr>
        <a:xfrm>
          <a:off x="0" y="0"/>
          <a:ext cx="0" cy="0"/>
          <a:chOff x="0" y="0"/>
          <a:chExt cx="0" cy="0"/>
        </a:xfrm>
      </p:grpSpPr>
      <p:grpSp>
        <p:nvGrpSpPr>
          <p:cNvPr id="176" name="Google Shape;176;p23"/>
          <p:cNvGrpSpPr/>
          <p:nvPr/>
        </p:nvGrpSpPr>
        <p:grpSpPr>
          <a:xfrm>
            <a:off x="8748156" y="4657239"/>
            <a:ext cx="395858" cy="486396"/>
            <a:chOff x="0" y="-47625"/>
            <a:chExt cx="208511" cy="256200"/>
          </a:xfrm>
        </p:grpSpPr>
        <p:sp>
          <p:nvSpPr>
            <p:cNvPr id="177" name="Google Shape;177;p23"/>
            <p:cNvSpPr/>
            <p:nvPr/>
          </p:nvSpPr>
          <p:spPr>
            <a:xfrm>
              <a:off x="0" y="0"/>
              <a:ext cx="208511" cy="208511"/>
            </a:xfrm>
            <a:custGeom>
              <a:rect b="b" l="l" r="r" t="t"/>
              <a:pathLst>
                <a:path extrusionOk="0" h="208511" w="208511">
                  <a:moveTo>
                    <a:pt x="0" y="0"/>
                  </a:moveTo>
                  <a:lnTo>
                    <a:pt x="208511" y="0"/>
                  </a:lnTo>
                  <a:lnTo>
                    <a:pt x="208511" y="208511"/>
                  </a:lnTo>
                  <a:lnTo>
                    <a:pt x="0" y="208511"/>
                  </a:lnTo>
                  <a:close/>
                </a:path>
              </a:pathLst>
            </a:custGeom>
            <a:solidFill>
              <a:srgbClr val="2B52A5"/>
            </a:solidFill>
            <a:ln>
              <a:noFill/>
            </a:ln>
          </p:spPr>
        </p:sp>
        <p:sp>
          <p:nvSpPr>
            <p:cNvPr id="178" name="Google Shape;178;p23"/>
            <p:cNvSpPr txBox="1"/>
            <p:nvPr/>
          </p:nvSpPr>
          <p:spPr>
            <a:xfrm>
              <a:off x="0" y="-47625"/>
              <a:ext cx="208500" cy="256200"/>
            </a:xfrm>
            <a:prstGeom prst="rect">
              <a:avLst/>
            </a:prstGeom>
            <a:noFill/>
            <a:ln>
              <a:noFill/>
            </a:ln>
          </p:spPr>
          <p:txBody>
            <a:bodyPr anchorCtr="0" anchor="ctr" bIns="25400" lIns="25400" spcFirstLastPara="1" rIns="25400" wrap="square" tIns="25400">
              <a:noAutofit/>
            </a:bodyPr>
            <a:lstStyle/>
            <a:p>
              <a:pPr indent="0" lvl="0" marL="0" marR="0" rtl="0" algn="ctr">
                <a:lnSpc>
                  <a:spcPct val="123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79" name="Google Shape;179;p23"/>
          <p:cNvSpPr txBox="1"/>
          <p:nvPr/>
        </p:nvSpPr>
        <p:spPr>
          <a:xfrm>
            <a:off x="8816921" y="4862802"/>
            <a:ext cx="258300" cy="1230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lang="fr" sz="800">
                <a:solidFill>
                  <a:srgbClr val="FFFFFF"/>
                </a:solidFill>
              </a:rPr>
              <a:t>10</a:t>
            </a:r>
            <a:endParaRPr sz="700"/>
          </a:p>
        </p:txBody>
      </p:sp>
      <p:pic>
        <p:nvPicPr>
          <p:cNvPr id="180" name="Google Shape;180;p23"/>
          <p:cNvPicPr preferRelativeResize="0"/>
          <p:nvPr/>
        </p:nvPicPr>
        <p:blipFill>
          <a:blip r:embed="rId3">
            <a:alphaModFix/>
          </a:blip>
          <a:stretch>
            <a:fillRect/>
          </a:stretch>
        </p:blipFill>
        <p:spPr>
          <a:xfrm>
            <a:off x="0" y="0"/>
            <a:ext cx="5715849" cy="5143499"/>
          </a:xfrm>
          <a:prstGeom prst="rect">
            <a:avLst/>
          </a:prstGeom>
          <a:noFill/>
          <a:ln>
            <a:noFill/>
          </a:ln>
        </p:spPr>
      </p:pic>
      <p:sp>
        <p:nvSpPr>
          <p:cNvPr id="181" name="Google Shape;181;p23"/>
          <p:cNvSpPr txBox="1"/>
          <p:nvPr/>
        </p:nvSpPr>
        <p:spPr>
          <a:xfrm>
            <a:off x="6654475" y="114725"/>
            <a:ext cx="1436400" cy="692700"/>
          </a:xfrm>
          <a:prstGeom prst="rect">
            <a:avLst/>
          </a:prstGeom>
          <a:noFill/>
          <a:ln>
            <a:noFill/>
          </a:ln>
        </p:spPr>
        <p:txBody>
          <a:bodyPr anchorCtr="0" anchor="t" bIns="91425" lIns="91425" spcFirstLastPara="1" rIns="91425" wrap="square" tIns="91425">
            <a:spAutoFit/>
          </a:bodyPr>
          <a:lstStyle/>
          <a:p>
            <a:pPr indent="0" lvl="0" marL="0" rtl="0" algn="l">
              <a:lnSpc>
                <a:spcPct val="140011"/>
              </a:lnSpc>
              <a:spcBef>
                <a:spcPts val="0"/>
              </a:spcBef>
              <a:spcAft>
                <a:spcPts val="0"/>
              </a:spcAft>
              <a:buNone/>
            </a:pPr>
            <a:r>
              <a:rPr lang="fr" sz="3300">
                <a:solidFill>
                  <a:schemeClr val="lt1"/>
                </a:solidFill>
              </a:rPr>
              <a:t>MLD</a:t>
            </a:r>
            <a:endParaRPr/>
          </a:p>
        </p:txBody>
      </p:sp>
    </p:spTree>
  </p:cSld>
  <p:clrMapOvr>
    <a:masterClrMapping/>
  </p:clrMapOvr>
  <mc:AlternateContent>
    <mc:Choice Requires="p14">
      <p:transition spd="slow" p14:dur="1200">
        <p14:prism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25EC5"/>
            </a:gs>
            <a:gs pos="100000">
              <a:srgbClr val="000000"/>
            </a:gs>
          </a:gsLst>
          <a:lin ang="0" scaled="0"/>
        </a:gradFill>
      </p:bgPr>
    </p:bg>
    <p:spTree>
      <p:nvGrpSpPr>
        <p:cNvPr id="185" name="Shape 185"/>
        <p:cNvGrpSpPr/>
        <p:nvPr/>
      </p:nvGrpSpPr>
      <p:grpSpPr>
        <a:xfrm>
          <a:off x="0" y="0"/>
          <a:ext cx="0" cy="0"/>
          <a:chOff x="0" y="0"/>
          <a:chExt cx="0" cy="0"/>
        </a:xfrm>
      </p:grpSpPr>
      <p:grpSp>
        <p:nvGrpSpPr>
          <p:cNvPr id="186" name="Google Shape;186;p24"/>
          <p:cNvGrpSpPr/>
          <p:nvPr/>
        </p:nvGrpSpPr>
        <p:grpSpPr>
          <a:xfrm>
            <a:off x="8748156" y="4657239"/>
            <a:ext cx="395858" cy="486396"/>
            <a:chOff x="0" y="-47625"/>
            <a:chExt cx="208511" cy="256200"/>
          </a:xfrm>
        </p:grpSpPr>
        <p:sp>
          <p:nvSpPr>
            <p:cNvPr id="187" name="Google Shape;187;p24"/>
            <p:cNvSpPr/>
            <p:nvPr/>
          </p:nvSpPr>
          <p:spPr>
            <a:xfrm>
              <a:off x="0" y="0"/>
              <a:ext cx="208511" cy="208511"/>
            </a:xfrm>
            <a:custGeom>
              <a:rect b="b" l="l" r="r" t="t"/>
              <a:pathLst>
                <a:path extrusionOk="0" h="208511" w="208511">
                  <a:moveTo>
                    <a:pt x="0" y="0"/>
                  </a:moveTo>
                  <a:lnTo>
                    <a:pt x="208511" y="0"/>
                  </a:lnTo>
                  <a:lnTo>
                    <a:pt x="208511" y="208511"/>
                  </a:lnTo>
                  <a:lnTo>
                    <a:pt x="0" y="208511"/>
                  </a:lnTo>
                  <a:close/>
                </a:path>
              </a:pathLst>
            </a:custGeom>
            <a:solidFill>
              <a:srgbClr val="2B52A5"/>
            </a:solidFill>
            <a:ln>
              <a:noFill/>
            </a:ln>
          </p:spPr>
        </p:sp>
        <p:sp>
          <p:nvSpPr>
            <p:cNvPr id="188" name="Google Shape;188;p24"/>
            <p:cNvSpPr txBox="1"/>
            <p:nvPr/>
          </p:nvSpPr>
          <p:spPr>
            <a:xfrm>
              <a:off x="0" y="-47625"/>
              <a:ext cx="208500" cy="256200"/>
            </a:xfrm>
            <a:prstGeom prst="rect">
              <a:avLst/>
            </a:prstGeom>
            <a:noFill/>
            <a:ln>
              <a:noFill/>
            </a:ln>
          </p:spPr>
          <p:txBody>
            <a:bodyPr anchorCtr="0" anchor="ctr" bIns="25400" lIns="25400" spcFirstLastPara="1" rIns="25400" wrap="square" tIns="25400">
              <a:noAutofit/>
            </a:bodyPr>
            <a:lstStyle/>
            <a:p>
              <a:pPr indent="0" lvl="0" marL="0" marR="0" rtl="0" algn="ctr">
                <a:lnSpc>
                  <a:spcPct val="123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89" name="Google Shape;189;p24"/>
          <p:cNvSpPr txBox="1"/>
          <p:nvPr/>
        </p:nvSpPr>
        <p:spPr>
          <a:xfrm>
            <a:off x="8816921" y="4862802"/>
            <a:ext cx="258300" cy="1230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lang="fr" sz="800">
                <a:solidFill>
                  <a:srgbClr val="FFFFFF"/>
                </a:solidFill>
              </a:rPr>
              <a:t>11</a:t>
            </a:r>
            <a:endParaRPr sz="700"/>
          </a:p>
        </p:txBody>
      </p:sp>
      <p:pic>
        <p:nvPicPr>
          <p:cNvPr id="190" name="Google Shape;190;p24"/>
          <p:cNvPicPr preferRelativeResize="0"/>
          <p:nvPr/>
        </p:nvPicPr>
        <p:blipFill>
          <a:blip r:embed="rId3">
            <a:alphaModFix/>
          </a:blip>
          <a:stretch>
            <a:fillRect/>
          </a:stretch>
        </p:blipFill>
        <p:spPr>
          <a:xfrm>
            <a:off x="0" y="0"/>
            <a:ext cx="5337250" cy="5143499"/>
          </a:xfrm>
          <a:prstGeom prst="rect">
            <a:avLst/>
          </a:prstGeom>
          <a:noFill/>
          <a:ln>
            <a:noFill/>
          </a:ln>
        </p:spPr>
      </p:pic>
      <p:sp>
        <p:nvSpPr>
          <p:cNvPr id="191" name="Google Shape;191;p24"/>
          <p:cNvSpPr txBox="1"/>
          <p:nvPr/>
        </p:nvSpPr>
        <p:spPr>
          <a:xfrm>
            <a:off x="6597000" y="91775"/>
            <a:ext cx="1230000" cy="692700"/>
          </a:xfrm>
          <a:prstGeom prst="rect">
            <a:avLst/>
          </a:prstGeom>
          <a:noFill/>
          <a:ln>
            <a:noFill/>
          </a:ln>
        </p:spPr>
        <p:txBody>
          <a:bodyPr anchorCtr="0" anchor="t" bIns="91425" lIns="91425" spcFirstLastPara="1" rIns="91425" wrap="square" tIns="91425">
            <a:spAutoFit/>
          </a:bodyPr>
          <a:lstStyle/>
          <a:p>
            <a:pPr indent="0" lvl="0" marL="0" rtl="0" algn="l">
              <a:lnSpc>
                <a:spcPct val="140011"/>
              </a:lnSpc>
              <a:spcBef>
                <a:spcPts val="0"/>
              </a:spcBef>
              <a:spcAft>
                <a:spcPts val="0"/>
              </a:spcAft>
              <a:buNone/>
            </a:pPr>
            <a:r>
              <a:rPr lang="fr" sz="3300">
                <a:solidFill>
                  <a:schemeClr val="lt1"/>
                </a:solidFill>
              </a:rPr>
              <a:t>MPD</a:t>
            </a:r>
            <a:endParaRPr/>
          </a:p>
        </p:txBody>
      </p:sp>
    </p:spTree>
  </p:cSld>
  <p:clrMapOvr>
    <a:masterClrMapping/>
  </p:clrMapOvr>
  <mc:AlternateContent>
    <mc:Choice Requires="p14">
      <p:transition spd="slow" p14:dur="1200">
        <p14:prism dir="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25EC5"/>
            </a:gs>
            <a:gs pos="100000">
              <a:srgbClr val="000000"/>
            </a:gs>
          </a:gsLst>
          <a:lin ang="0" scaled="0"/>
        </a:gradFill>
      </p:bgPr>
    </p:bg>
    <p:spTree>
      <p:nvGrpSpPr>
        <p:cNvPr id="195" name="Shape 195"/>
        <p:cNvGrpSpPr/>
        <p:nvPr/>
      </p:nvGrpSpPr>
      <p:grpSpPr>
        <a:xfrm>
          <a:off x="0" y="0"/>
          <a:ext cx="0" cy="0"/>
          <a:chOff x="0" y="0"/>
          <a:chExt cx="0" cy="0"/>
        </a:xfrm>
      </p:grpSpPr>
      <p:grpSp>
        <p:nvGrpSpPr>
          <p:cNvPr id="196" name="Google Shape;196;p25"/>
          <p:cNvGrpSpPr/>
          <p:nvPr/>
        </p:nvGrpSpPr>
        <p:grpSpPr>
          <a:xfrm>
            <a:off x="8748156" y="4657239"/>
            <a:ext cx="395858" cy="486396"/>
            <a:chOff x="0" y="-47625"/>
            <a:chExt cx="208511" cy="256200"/>
          </a:xfrm>
        </p:grpSpPr>
        <p:sp>
          <p:nvSpPr>
            <p:cNvPr id="197" name="Google Shape;197;p25"/>
            <p:cNvSpPr/>
            <p:nvPr/>
          </p:nvSpPr>
          <p:spPr>
            <a:xfrm>
              <a:off x="0" y="0"/>
              <a:ext cx="208511" cy="208511"/>
            </a:xfrm>
            <a:custGeom>
              <a:rect b="b" l="l" r="r" t="t"/>
              <a:pathLst>
                <a:path extrusionOk="0" h="208511" w="208511">
                  <a:moveTo>
                    <a:pt x="0" y="0"/>
                  </a:moveTo>
                  <a:lnTo>
                    <a:pt x="208511" y="0"/>
                  </a:lnTo>
                  <a:lnTo>
                    <a:pt x="208511" y="208511"/>
                  </a:lnTo>
                  <a:lnTo>
                    <a:pt x="0" y="208511"/>
                  </a:lnTo>
                  <a:close/>
                </a:path>
              </a:pathLst>
            </a:custGeom>
            <a:solidFill>
              <a:srgbClr val="2B52A5"/>
            </a:solidFill>
            <a:ln>
              <a:noFill/>
            </a:ln>
          </p:spPr>
        </p:sp>
        <p:sp>
          <p:nvSpPr>
            <p:cNvPr id="198" name="Google Shape;198;p25"/>
            <p:cNvSpPr txBox="1"/>
            <p:nvPr/>
          </p:nvSpPr>
          <p:spPr>
            <a:xfrm>
              <a:off x="0" y="-47625"/>
              <a:ext cx="208500" cy="256200"/>
            </a:xfrm>
            <a:prstGeom prst="rect">
              <a:avLst/>
            </a:prstGeom>
            <a:noFill/>
            <a:ln>
              <a:noFill/>
            </a:ln>
          </p:spPr>
          <p:txBody>
            <a:bodyPr anchorCtr="0" anchor="ctr" bIns="25400" lIns="25400" spcFirstLastPara="1" rIns="25400" wrap="square" tIns="25400">
              <a:noAutofit/>
            </a:bodyPr>
            <a:lstStyle/>
            <a:p>
              <a:pPr indent="0" lvl="0" marL="0" marR="0" rtl="0" algn="ctr">
                <a:lnSpc>
                  <a:spcPct val="1236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99" name="Google Shape;199;p25"/>
          <p:cNvSpPr txBox="1"/>
          <p:nvPr/>
        </p:nvSpPr>
        <p:spPr>
          <a:xfrm>
            <a:off x="8816921" y="4862802"/>
            <a:ext cx="258300" cy="1230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lang="fr" sz="800">
                <a:solidFill>
                  <a:srgbClr val="FFFFFF"/>
                </a:solidFill>
              </a:rPr>
              <a:t>12</a:t>
            </a:r>
            <a:endParaRPr sz="700"/>
          </a:p>
        </p:txBody>
      </p:sp>
      <p:sp>
        <p:nvSpPr>
          <p:cNvPr id="200" name="Google Shape;200;p25"/>
          <p:cNvSpPr txBox="1"/>
          <p:nvPr/>
        </p:nvSpPr>
        <p:spPr>
          <a:xfrm>
            <a:off x="4924225" y="57375"/>
            <a:ext cx="4065000" cy="1403700"/>
          </a:xfrm>
          <a:prstGeom prst="rect">
            <a:avLst/>
          </a:prstGeom>
          <a:noFill/>
          <a:ln>
            <a:noFill/>
          </a:ln>
        </p:spPr>
        <p:txBody>
          <a:bodyPr anchorCtr="0" anchor="t" bIns="91425" lIns="91425" spcFirstLastPara="1" rIns="91425" wrap="square" tIns="91425">
            <a:spAutoFit/>
          </a:bodyPr>
          <a:lstStyle/>
          <a:p>
            <a:pPr indent="0" lvl="0" marL="0" rtl="0" algn="l">
              <a:lnSpc>
                <a:spcPct val="140011"/>
              </a:lnSpc>
              <a:spcBef>
                <a:spcPts val="0"/>
              </a:spcBef>
              <a:spcAft>
                <a:spcPts val="0"/>
              </a:spcAft>
              <a:buNone/>
            </a:pPr>
            <a:r>
              <a:rPr lang="fr" sz="3300">
                <a:solidFill>
                  <a:schemeClr val="lt1"/>
                </a:solidFill>
              </a:rPr>
              <a:t>Schéma de la base de données.</a:t>
            </a:r>
            <a:endParaRPr/>
          </a:p>
        </p:txBody>
      </p:sp>
      <p:pic>
        <p:nvPicPr>
          <p:cNvPr id="201" name="Google Shape;201;p25" title="schemas base.png"/>
          <p:cNvPicPr preferRelativeResize="0"/>
          <p:nvPr/>
        </p:nvPicPr>
        <p:blipFill>
          <a:blip r:embed="rId3">
            <a:alphaModFix/>
          </a:blip>
          <a:stretch>
            <a:fillRect/>
          </a:stretch>
        </p:blipFill>
        <p:spPr>
          <a:xfrm>
            <a:off x="0" y="0"/>
            <a:ext cx="4572000" cy="5143500"/>
          </a:xfrm>
          <a:prstGeom prst="rect">
            <a:avLst/>
          </a:prstGeom>
          <a:noFill/>
          <a:ln>
            <a:noFill/>
          </a:ln>
        </p:spPr>
      </p:pic>
    </p:spTree>
  </p:cSld>
  <p:clrMapOvr>
    <a:masterClrMapping/>
  </p:clrMapOvr>
  <mc:AlternateContent>
    <mc:Choice Requires="p14">
      <p:transition spd="slow" p14:dur="1200">
        <p14:prism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fr"/>
              <a:t>THANKS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